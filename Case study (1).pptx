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3"/>
  </p:notesMasterIdLst>
  <p:sldIdLst>
    <p:sldId id="256" r:id="rId2"/>
    <p:sldId id="258" r:id="rId3"/>
    <p:sldId id="1936" r:id="rId4"/>
    <p:sldId id="1937" r:id="rId5"/>
    <p:sldId id="1940" r:id="rId6"/>
    <p:sldId id="1938" r:id="rId7"/>
    <p:sldId id="1939" r:id="rId8"/>
    <p:sldId id="259" r:id="rId9"/>
    <p:sldId id="260" r:id="rId10"/>
    <p:sldId id="1934" r:id="rId11"/>
    <p:sldId id="193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84E0CF-4DC6-467E-9B93-037E05532199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88E531E-FC80-4B3F-9C83-F556FC9EED7E}">
      <dgm:prSet custT="1"/>
      <dgm:spPr/>
      <dgm:t>
        <a:bodyPr/>
        <a:lstStyle/>
        <a:p>
          <a:r>
            <a:rPr lang="en-US" sz="1800" dirty="0">
              <a:solidFill>
                <a:schemeClr val="tx1"/>
              </a:solidFill>
            </a:rPr>
            <a:t>Device Class- Class II</a:t>
          </a:r>
        </a:p>
      </dgm:t>
    </dgm:pt>
    <dgm:pt modelId="{A421C68E-5E0C-43BB-99BE-F2848210F437}" type="parTrans" cxnId="{607367EC-F17C-4325-B4D5-F4422B59FB18}">
      <dgm:prSet/>
      <dgm:spPr/>
      <dgm:t>
        <a:bodyPr/>
        <a:lstStyle/>
        <a:p>
          <a:endParaRPr lang="en-US"/>
        </a:p>
      </dgm:t>
    </dgm:pt>
    <dgm:pt modelId="{384E1B71-55E5-4B63-9F10-997AD29F0EBA}" type="sibTrans" cxnId="{607367EC-F17C-4325-B4D5-F4422B59FB18}">
      <dgm:prSet/>
      <dgm:spPr/>
      <dgm:t>
        <a:bodyPr/>
        <a:lstStyle/>
        <a:p>
          <a:endParaRPr lang="en-US"/>
        </a:p>
      </dgm:t>
    </dgm:pt>
    <dgm:pt modelId="{8BCC73F1-F80F-40D5-9CB7-524064D74A2E}">
      <dgm:prSet custT="1"/>
      <dgm:spPr/>
      <dgm:t>
        <a:bodyPr/>
        <a:lstStyle/>
        <a:p>
          <a:r>
            <a:rPr lang="en-US" sz="1800" dirty="0">
              <a:solidFill>
                <a:schemeClr val="tx1"/>
              </a:solidFill>
            </a:rPr>
            <a:t>The intended use of Philips CareEvent is to deliver supplemental medical device data associated with physiological alarms, technical alarms, clinical notifications, nurse call alarms and informational messages to a healthcare professional’s end device. </a:t>
          </a:r>
        </a:p>
        <a:p>
          <a:r>
            <a:rPr lang="en-US" sz="1800" dirty="0">
              <a:solidFill>
                <a:schemeClr val="tx1"/>
              </a:solidFill>
            </a:rPr>
            <a:t>The user may receive visual or audible notifications and/or other message notification types based on the communicator in use.</a:t>
          </a:r>
        </a:p>
      </dgm:t>
    </dgm:pt>
    <dgm:pt modelId="{65D7B9AF-4A83-42A6-8DC3-A095CCAAAD47}" type="sibTrans" cxnId="{65F7FDA4-63BC-4CE9-A4A6-8EF2E6062430}">
      <dgm:prSet/>
      <dgm:spPr/>
      <dgm:t>
        <a:bodyPr/>
        <a:lstStyle/>
        <a:p>
          <a:endParaRPr lang="en-US"/>
        </a:p>
      </dgm:t>
    </dgm:pt>
    <dgm:pt modelId="{98F4C034-6DC1-45B4-AE69-BB1AC3F21D3C}" type="parTrans" cxnId="{65F7FDA4-63BC-4CE9-A4A6-8EF2E6062430}">
      <dgm:prSet/>
      <dgm:spPr/>
      <dgm:t>
        <a:bodyPr/>
        <a:lstStyle/>
        <a:p>
          <a:endParaRPr lang="en-US"/>
        </a:p>
      </dgm:t>
    </dgm:pt>
    <dgm:pt modelId="{A4F668F9-2C3B-4603-AC1A-0F5474D6C87C}" type="pres">
      <dgm:prSet presAssocID="{4284E0CF-4DC6-467E-9B93-037E05532199}" presName="linear" presStyleCnt="0">
        <dgm:presLayoutVars>
          <dgm:animLvl val="lvl"/>
          <dgm:resizeHandles val="exact"/>
        </dgm:presLayoutVars>
      </dgm:prSet>
      <dgm:spPr/>
    </dgm:pt>
    <dgm:pt modelId="{555C726C-7D77-47EB-8488-6D1A0454B883}" type="pres">
      <dgm:prSet presAssocID="{988E531E-FC80-4B3F-9C83-F556FC9EED7E}" presName="parentText" presStyleLbl="node1" presStyleIdx="0" presStyleCnt="2" custScaleY="40345">
        <dgm:presLayoutVars>
          <dgm:chMax val="0"/>
          <dgm:bulletEnabled val="1"/>
        </dgm:presLayoutVars>
      </dgm:prSet>
      <dgm:spPr/>
    </dgm:pt>
    <dgm:pt modelId="{4975EA34-EEA0-4795-9390-E95FE5969D75}" type="pres">
      <dgm:prSet presAssocID="{384E1B71-55E5-4B63-9F10-997AD29F0EBA}" presName="spacer" presStyleCnt="0"/>
      <dgm:spPr/>
    </dgm:pt>
    <dgm:pt modelId="{C0DEF87C-7B35-4930-BDC9-21125A7B5622}" type="pres">
      <dgm:prSet presAssocID="{8BCC73F1-F80F-40D5-9CB7-524064D74A2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C48604D-5A2C-4318-92D9-C794029BD953}" type="presOf" srcId="{4284E0CF-4DC6-467E-9B93-037E05532199}" destId="{A4F668F9-2C3B-4603-AC1A-0F5474D6C87C}" srcOrd="0" destOrd="0" presId="urn:microsoft.com/office/officeart/2005/8/layout/vList2"/>
    <dgm:cxn modelId="{9BAAE58C-E9E0-4CE4-B58C-7BD1AF7D3C69}" type="presOf" srcId="{988E531E-FC80-4B3F-9C83-F556FC9EED7E}" destId="{555C726C-7D77-47EB-8488-6D1A0454B883}" srcOrd="0" destOrd="0" presId="urn:microsoft.com/office/officeart/2005/8/layout/vList2"/>
    <dgm:cxn modelId="{6B4D6AA1-3A29-423D-9620-B1879FF72A35}" type="presOf" srcId="{8BCC73F1-F80F-40D5-9CB7-524064D74A2E}" destId="{C0DEF87C-7B35-4930-BDC9-21125A7B5622}" srcOrd="0" destOrd="0" presId="urn:microsoft.com/office/officeart/2005/8/layout/vList2"/>
    <dgm:cxn modelId="{65F7FDA4-63BC-4CE9-A4A6-8EF2E6062430}" srcId="{4284E0CF-4DC6-467E-9B93-037E05532199}" destId="{8BCC73F1-F80F-40D5-9CB7-524064D74A2E}" srcOrd="1" destOrd="0" parTransId="{98F4C034-6DC1-45B4-AE69-BB1AC3F21D3C}" sibTransId="{65D7B9AF-4A83-42A6-8DC3-A095CCAAAD47}"/>
    <dgm:cxn modelId="{607367EC-F17C-4325-B4D5-F4422B59FB18}" srcId="{4284E0CF-4DC6-467E-9B93-037E05532199}" destId="{988E531E-FC80-4B3F-9C83-F556FC9EED7E}" srcOrd="0" destOrd="0" parTransId="{A421C68E-5E0C-43BB-99BE-F2848210F437}" sibTransId="{384E1B71-55E5-4B63-9F10-997AD29F0EBA}"/>
    <dgm:cxn modelId="{B04CE116-49EA-4C5F-B8D5-0070037604B9}" type="presParOf" srcId="{A4F668F9-2C3B-4603-AC1A-0F5474D6C87C}" destId="{555C726C-7D77-47EB-8488-6D1A0454B883}" srcOrd="0" destOrd="0" presId="urn:microsoft.com/office/officeart/2005/8/layout/vList2"/>
    <dgm:cxn modelId="{96128D9B-C858-463A-A6BE-8394FEFEBB25}" type="presParOf" srcId="{A4F668F9-2C3B-4603-AC1A-0F5474D6C87C}" destId="{4975EA34-EEA0-4795-9390-E95FE5969D75}" srcOrd="1" destOrd="0" presId="urn:microsoft.com/office/officeart/2005/8/layout/vList2"/>
    <dgm:cxn modelId="{9383BB2A-491E-46A4-A325-F5DDB7A1DB20}" type="presParOf" srcId="{A4F668F9-2C3B-4603-AC1A-0F5474D6C87C}" destId="{C0DEF87C-7B35-4930-BDC9-21125A7B562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5C726C-7D77-47EB-8488-6D1A0454B883}">
      <dsp:nvSpPr>
        <dsp:cNvPr id="0" name=""/>
        <dsp:cNvSpPr/>
      </dsp:nvSpPr>
      <dsp:spPr>
        <a:xfrm>
          <a:off x="0" y="1475543"/>
          <a:ext cx="8032650" cy="67501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</a:rPr>
            <a:t>Device Class- Class II</a:t>
          </a:r>
        </a:p>
      </dsp:txBody>
      <dsp:txXfrm>
        <a:off x="32951" y="1508494"/>
        <a:ext cx="7966748" cy="609110"/>
      </dsp:txXfrm>
    </dsp:sp>
    <dsp:sp modelId="{C0DEF87C-7B35-4930-BDC9-21125A7B5622}">
      <dsp:nvSpPr>
        <dsp:cNvPr id="0" name=""/>
        <dsp:cNvSpPr/>
      </dsp:nvSpPr>
      <dsp:spPr>
        <a:xfrm>
          <a:off x="0" y="2337756"/>
          <a:ext cx="8032650" cy="1673100"/>
        </a:xfrm>
        <a:prstGeom prst="roundRect">
          <a:avLst/>
        </a:prstGeom>
        <a:solidFill>
          <a:schemeClr val="accent5">
            <a:hueOff val="-1497002"/>
            <a:satOff val="674"/>
            <a:lumOff val="-70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</a:rPr>
            <a:t>The intended use of Philips CareEvent is to deliver supplemental medical device data associated with physiological alarms, technical alarms, clinical notifications, nurse call alarms and informational messages to a healthcare professional’s end device.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</a:rPr>
            <a:t>The user may receive visual or audible notifications and/or other message notification types based on the communicator in use.</a:t>
          </a:r>
        </a:p>
      </dsp:txBody>
      <dsp:txXfrm>
        <a:off x="81674" y="2419430"/>
        <a:ext cx="7869302" cy="15097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943F6D-9701-491A-92A9-71FE00BA2AD6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8D154B-3598-4F41-840A-CB1997A03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76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back to Change the Business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04347A-E784-4AE6-A747-A6B0D255E74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8603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back to Change the Business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04347A-E784-4AE6-A747-A6B0D255E74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1394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7A07-96C3-42AF-943D-953C86C3D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3557"/>
            <a:ext cx="9144000" cy="2387600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E38DF-F503-4E79-B1B0-16489708A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3232"/>
            <a:ext cx="9144000" cy="1655762"/>
          </a:xfrm>
        </p:spPr>
        <p:txBody>
          <a:bodyPr>
            <a:normAutofit/>
          </a:bodyPr>
          <a:lstStyle>
            <a:lvl1pPr marL="0" indent="0" algn="ctr">
              <a:lnSpc>
                <a:spcPts val="3200"/>
              </a:lnSpc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D965B-87A4-4F43-BE02-800BCCDF42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624" y="6217920"/>
            <a:ext cx="2743200" cy="640080"/>
          </a:xfrm>
        </p:spPr>
        <p:txBody>
          <a:bodyPr anchor="ctr" anchorCtr="0"/>
          <a:lstStyle/>
          <a:p>
            <a:fld id="{403CB87E-4591-47A1-9046-CF63F17215EF}" type="datetime2">
              <a:rPr lang="en-US" smtClean="0"/>
              <a:t>Tuesday, April 6, 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ED35B-CBF1-40D9-BAA7-CF9E1E22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67328" y="6217920"/>
            <a:ext cx="7196328" cy="640080"/>
          </a:xfrm>
        </p:spPr>
        <p:txBody>
          <a:bodyPr anchor="ctr" anchorCtr="0"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6653A-450D-4BDE-8718-99F2D9314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3152" y="0"/>
            <a:ext cx="685800" cy="685800"/>
          </a:xfrm>
        </p:spPr>
        <p:txBody>
          <a:bodyPr/>
          <a:lstStyle>
            <a:lvl1pPr algn="ctr">
              <a:defRPr/>
            </a:lvl1pPr>
          </a:lstStyle>
          <a:p>
            <a:fld id="{3A4F6043-7A67-491B-98BC-F933DED72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40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4413-82C1-4EBC-8C6B-BC5F842D1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5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029A-192E-4A44-ACC7-6C5212C77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5" y="1825625"/>
            <a:ext cx="10543031" cy="420638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1A7D4-E57E-4789-896B-B2A051BF94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624" y="6217920"/>
            <a:ext cx="2743200" cy="6400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33DE70B-B772-416E-A790-995760B1742E}" type="datetime2">
              <a:rPr lang="en-US" smtClean="0"/>
              <a:t>Tuesday, April 6, 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B63EE-3B35-4F8A-BDA3-E778BFE14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39EF2-7937-4C30-A883-7F7BD0280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77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F4BC-D1E9-40F0-A26B-9EA9B6B6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081941"/>
            <a:ext cx="10543032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974A6-FAB9-47DA-8F1A-701DFC8DF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3961666"/>
            <a:ext cx="10543032" cy="1500187"/>
          </a:xfrm>
        </p:spPr>
        <p:txBody>
          <a:bodyPr>
            <a:noAutofit/>
          </a:bodyPr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4E2B4-314C-4D4F-8938-E437A2EF5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0CDE-A6F1-4138-AF12-ED09E8E5FB6B}" type="datetime2">
              <a:rPr lang="en-US" smtClean="0"/>
              <a:t>Tuesday, April 6, 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42F23-6986-4A36-97F0-13F305A2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BA1B9-2423-42BD-A553-DC5703F62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812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64F76-994F-4AB5-B17B-46C0C2FA5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69B3B-A540-4556-98C8-1F49704A7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624" y="1825625"/>
            <a:ext cx="5599176" cy="4206382"/>
          </a:xfrm>
        </p:spPr>
        <p:txBody>
          <a:bodyPr/>
          <a:lstStyle>
            <a:lvl1pPr marL="457200" indent="-457200">
              <a:buFont typeface="Wingdings 2" panose="05020102010507070707" pitchFamily="18" charset="2"/>
              <a:buChar char="¬"/>
              <a:defRPr/>
            </a:lvl1pPr>
            <a:lvl2pPr marL="800100" indent="-342900">
              <a:buFont typeface="Wingdings 2" panose="05020102010507070707" pitchFamily="18" charset="2"/>
              <a:buChar char="¬"/>
              <a:defRPr/>
            </a:lvl2pPr>
            <a:lvl3pPr marL="1257300" indent="-342900">
              <a:buFont typeface="Wingdings 2" panose="05020102010507070707" pitchFamily="18" charset="2"/>
              <a:buChar char="¬"/>
              <a:defRPr/>
            </a:lvl3pPr>
            <a:lvl4pPr marL="1657350" indent="-285750">
              <a:buFont typeface="Wingdings 2" panose="05020102010507070707" pitchFamily="18" charset="2"/>
              <a:buChar char="¬"/>
              <a:defRPr/>
            </a:lvl4pPr>
            <a:lvl5pPr marL="2114550" indent="-285750">
              <a:buFont typeface="Wingdings 2" panose="05020102010507070707" pitchFamily="18" charset="2"/>
              <a:buChar char="¬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72438-7C63-48F2-9D6F-2461BFD6D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4791456" cy="4206382"/>
          </a:xfrm>
        </p:spPr>
        <p:txBody>
          <a:bodyPr/>
          <a:lstStyle>
            <a:lvl1pPr marL="228600" indent="-228600">
              <a:buFont typeface="Wingdings 2" panose="05020102010507070707" pitchFamily="18" charset="2"/>
              <a:buChar char="¬"/>
              <a:defRPr/>
            </a:lvl1pPr>
            <a:lvl2pPr marL="685800" indent="-228600">
              <a:buFont typeface="Wingdings 2" panose="05020102010507070707" pitchFamily="18" charset="2"/>
              <a:buChar char="¬"/>
              <a:defRPr/>
            </a:lvl2pPr>
            <a:lvl3pPr marL="1143000" indent="-228600">
              <a:buFont typeface="Wingdings 2" panose="05020102010507070707" pitchFamily="18" charset="2"/>
              <a:buChar char="¬"/>
              <a:defRPr/>
            </a:lvl3pPr>
            <a:lvl4pPr marL="1600200" indent="-228600">
              <a:buFont typeface="Wingdings 2" panose="05020102010507070707" pitchFamily="18" charset="2"/>
              <a:buChar char="¬"/>
              <a:defRPr/>
            </a:lvl4pPr>
            <a:lvl5pPr marL="2057400" indent="-228600">
              <a:buFont typeface="Wingdings 2" panose="05020102010507070707" pitchFamily="18" charset="2"/>
              <a:buChar char="¬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A1B49-6AAA-4DA7-970F-B75899F1A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5F8B1-DB7B-4D28-A97D-40FB2DD1EF78}" type="datetime2">
              <a:rPr lang="en-US" smtClean="0"/>
              <a:t>Tuesday, April 6, 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3649A-B9A2-4737-B47E-758DC140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0C1407-C705-451C-878E-8175DCCD5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898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5DDA7-4AAD-4EBE-880C-200E5F10A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681163"/>
            <a:ext cx="5549697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0624" y="2505075"/>
            <a:ext cx="5549697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C438EA-D381-4F22-A911-ECDD6D04F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70321" y="1681163"/>
            <a:ext cx="4993335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70321" y="2505075"/>
            <a:ext cx="4993335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298F3-0AEC-4811-99A4-B78AE3A70B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624" y="6217920"/>
            <a:ext cx="2743200" cy="640080"/>
          </a:xfrm>
        </p:spPr>
        <p:txBody>
          <a:bodyPr/>
          <a:lstStyle/>
          <a:p>
            <a:fld id="{14039161-23B8-4738-9069-73EBE8884FDD}" type="datetime2">
              <a:rPr lang="en-US" smtClean="0"/>
              <a:t>Tuesday, April 6, 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7690B4-8A9A-4717-8B0B-2C9212926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8F00A-44BE-4E0A-B1CE-1FC489654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86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F235-FBFF-453E-B90A-5758ED47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938306"/>
            <a:ext cx="10543032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3A871-5A76-4349-99F0-C46C77380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94D44-7693-499F-AC6C-11696134FE3F}" type="datetime2">
              <a:rPr lang="en-US" smtClean="0"/>
              <a:t>Tuesday, April 6, 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72E803-8BD9-40A2-8389-C19DA1148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5414ED-B772-4B84-813E-E34C9A97C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621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562BDD-CBFF-4046-A6B2-A9ECCB7EA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AF2AE-472C-4EF3-ABB2-24BAA9AE3CF7}" type="datetime2">
              <a:rPr lang="en-US" smtClean="0"/>
              <a:t>Tuesday, April 6, 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90B5F6-6C28-4A86-AFD0-D7F93D461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10D5C-1634-451B-8D99-4D47EB3A1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792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12261-8522-4437-B612-7C7100D1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10543032" cy="1600200"/>
          </a:xfrm>
        </p:spPr>
        <p:txBody>
          <a:bodyPr anchor="b">
            <a:noAutofit/>
          </a:bodyPr>
          <a:lstStyle>
            <a:lvl1pPr>
              <a:defRPr sz="5200">
                <a:latin typeface="Dante (Headings)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A0AF-3F50-42BD-84B4-E70C3D004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199340"/>
            <a:ext cx="5780468" cy="366171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C702B-2C4D-4590-8BEE-31940145C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4489180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4813E-250B-4422-AE46-5E1AB964A4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624" y="6217920"/>
            <a:ext cx="2743200" cy="640080"/>
          </a:xfrm>
        </p:spPr>
        <p:txBody>
          <a:bodyPr/>
          <a:lstStyle/>
          <a:p>
            <a:fld id="{EAEA162C-A7C1-4263-9453-1BAFF8C39559}" type="datetime2">
              <a:rPr lang="en-US" smtClean="0"/>
              <a:t>Tuesday, April 6, 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B5B81-E9CC-45F3-8EF1-35D2C8FF1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DA7E97-5A73-4602-9582-6CDACB918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548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334B-3019-4CA1-B658-77900192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4489180" cy="16002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D3CC12-FD6B-41A3-BF67-D600CC438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B2BD5-DC18-460B-BFCC-5B2447D2B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4489180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AF6305-9768-4792-866C-91238D4569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624" y="6217920"/>
            <a:ext cx="2743200" cy="640080"/>
          </a:xfrm>
        </p:spPr>
        <p:txBody>
          <a:bodyPr/>
          <a:lstStyle/>
          <a:p>
            <a:fld id="{64DF6793-3458-4587-8168-65F0C37A92D2}" type="datetime2">
              <a:rPr lang="en-US" smtClean="0"/>
              <a:t>Tuesday, April 6, 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DBF050-0FF1-499F-936E-FAAE50DC3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02C2E-1542-46B4-85B1-7A4B3F772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24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D930A-6467-4C46-BA13-A0F5EC12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1977A-7872-4BE8-8C5C-D2099BEDB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B8191-8A0C-4077-9A2D-0255BF81A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17F0E-8070-4DFE-A821-9A699EDBAD7E}" type="datetime2">
              <a:rPr lang="en-US" smtClean="0"/>
              <a:t>Tuesday, April 6, 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41B40-57AC-45F3-9AAC-DC2BEBB12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D65F4-29FA-451A-878F-768E426A7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199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76A9FC-D582-4FC8-B641-9F77B4DD1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A1683-12F6-4BA6-AD1A-F98C60951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141D6-1E1A-4A54-A9B4-57F86865F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D34AE-C7BF-46E5-A968-01C6641F6476}" type="datetime2">
              <a:rPr lang="en-US" smtClean="0"/>
              <a:t>Tuesday, April 6, 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541D6-4702-4421-AEB2-D6CA3AADB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C9F43-CD60-4C38-94C9-0E6D3B722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906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382B008-581F-467C-B66B-4F6142288658}"/>
              </a:ext>
            </a:extLst>
          </p:cNvPr>
          <p:cNvSpPr/>
          <p:nvPr userDrawn="1"/>
        </p:nvSpPr>
        <p:spPr>
          <a:xfrm>
            <a:off x="0" y="0"/>
            <a:ext cx="12192000" cy="112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grpSp>
        <p:nvGrpSpPr>
          <p:cNvPr id="281" name="Group 280"/>
          <p:cNvGrpSpPr/>
          <p:nvPr userDrawn="1"/>
        </p:nvGrpSpPr>
        <p:grpSpPr bwMode="gray">
          <a:xfrm>
            <a:off x="-1" y="1"/>
            <a:ext cx="12183353" cy="6629401"/>
            <a:chOff x="-1" y="596901"/>
            <a:chExt cx="9137515" cy="4375150"/>
          </a:xfrm>
        </p:grpSpPr>
        <p:cxnSp>
          <p:nvCxnSpPr>
            <p:cNvPr id="163" name="Straight Connector 162"/>
            <p:cNvCxnSpPr/>
            <p:nvPr userDrawn="1"/>
          </p:nvCxnSpPr>
          <p:spPr bwMode="gray">
            <a:xfrm rot="5400000">
              <a:off x="4568757" y="-397185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 userDrawn="1"/>
          </p:nvCxnSpPr>
          <p:spPr bwMode="gray">
            <a:xfrm rot="5400000">
              <a:off x="4568757" y="-382122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 userDrawn="1"/>
          </p:nvCxnSpPr>
          <p:spPr bwMode="gray">
            <a:xfrm rot="5400000">
              <a:off x="4568757" y="-367059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 userDrawn="1"/>
          </p:nvCxnSpPr>
          <p:spPr bwMode="gray">
            <a:xfrm rot="5400000">
              <a:off x="4568757" y="-351995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 userDrawn="1"/>
          </p:nvCxnSpPr>
          <p:spPr bwMode="gray">
            <a:xfrm rot="5400000">
              <a:off x="4568757" y="-336932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 userDrawn="1"/>
          </p:nvCxnSpPr>
          <p:spPr bwMode="gray">
            <a:xfrm rot="5400000">
              <a:off x="4568757" y="-321869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 userDrawn="1"/>
          </p:nvCxnSpPr>
          <p:spPr bwMode="gray">
            <a:xfrm rot="5400000">
              <a:off x="4568757" y="-306805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 userDrawn="1"/>
          </p:nvCxnSpPr>
          <p:spPr bwMode="gray">
            <a:xfrm rot="5400000">
              <a:off x="4568757" y="-291742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 userDrawn="1"/>
          </p:nvCxnSpPr>
          <p:spPr bwMode="gray">
            <a:xfrm rot="5400000">
              <a:off x="4568757" y="-276679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 userDrawn="1"/>
          </p:nvCxnSpPr>
          <p:spPr bwMode="gray">
            <a:xfrm rot="5400000">
              <a:off x="4568757" y="-261616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 userDrawn="1"/>
          </p:nvCxnSpPr>
          <p:spPr bwMode="gray">
            <a:xfrm rot="5400000">
              <a:off x="4568757" y="-246552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 userDrawn="1"/>
          </p:nvCxnSpPr>
          <p:spPr bwMode="gray">
            <a:xfrm rot="5400000">
              <a:off x="4568757" y="-231489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 userDrawn="1"/>
          </p:nvCxnSpPr>
          <p:spPr bwMode="gray">
            <a:xfrm rot="5400000">
              <a:off x="4568757" y="-216426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 userDrawn="1"/>
          </p:nvCxnSpPr>
          <p:spPr bwMode="gray">
            <a:xfrm rot="5400000">
              <a:off x="4568757" y="-201362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 userDrawn="1"/>
          </p:nvCxnSpPr>
          <p:spPr bwMode="gray">
            <a:xfrm rot="5400000">
              <a:off x="4568757" y="-186299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 userDrawn="1"/>
          </p:nvCxnSpPr>
          <p:spPr bwMode="gray">
            <a:xfrm rot="5400000">
              <a:off x="4568757" y="-171236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 userDrawn="1"/>
          </p:nvCxnSpPr>
          <p:spPr bwMode="gray">
            <a:xfrm rot="5400000">
              <a:off x="4568757" y="-156172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 userDrawn="1"/>
          </p:nvCxnSpPr>
          <p:spPr bwMode="gray">
            <a:xfrm rot="5400000">
              <a:off x="4568757" y="-141109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 userDrawn="1"/>
          </p:nvCxnSpPr>
          <p:spPr bwMode="gray">
            <a:xfrm rot="5400000">
              <a:off x="4568757" y="-126046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 userDrawn="1"/>
          </p:nvCxnSpPr>
          <p:spPr bwMode="gray">
            <a:xfrm rot="5400000">
              <a:off x="4568757" y="-110983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 userDrawn="1"/>
          </p:nvCxnSpPr>
          <p:spPr bwMode="gray">
            <a:xfrm rot="5400000">
              <a:off x="4568757" y="-95919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 userDrawn="1"/>
          </p:nvCxnSpPr>
          <p:spPr bwMode="gray">
            <a:xfrm rot="5400000">
              <a:off x="4568757" y="-80856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 bwMode="gray">
            <a:xfrm rot="5400000">
              <a:off x="4568757" y="-65793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 userDrawn="1"/>
          </p:nvCxnSpPr>
          <p:spPr bwMode="gray">
            <a:xfrm rot="5400000">
              <a:off x="4568757" y="-50729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 bwMode="gray">
            <a:xfrm rot="5400000">
              <a:off x="4568757" y="-35666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 userDrawn="1"/>
          </p:nvCxnSpPr>
          <p:spPr bwMode="gray">
            <a:xfrm rot="5400000">
              <a:off x="4568757" y="-20603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 bwMode="gray">
            <a:xfrm rot="5400000">
              <a:off x="4568757" y="-5539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 userDrawn="1"/>
          </p:nvCxnSpPr>
          <p:spPr bwMode="gray">
            <a:xfrm rot="5400000">
              <a:off x="4568757" y="9523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 bwMode="gray">
            <a:xfrm rot="5400000">
              <a:off x="4568757" y="24586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 userDrawn="1"/>
          </p:nvCxnSpPr>
          <p:spPr bwMode="gray">
            <a:xfrm rot="5400000">
              <a:off x="4568757" y="39691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 userDrawn="1"/>
          </p:nvCxnSpPr>
          <p:spPr bwMode="gray">
            <a:xfrm>
              <a:off x="14257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 bwMode="gray">
            <a:xfrm>
              <a:off x="29530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 userDrawn="1"/>
          </p:nvCxnSpPr>
          <p:spPr bwMode="gray">
            <a:xfrm>
              <a:off x="44802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 userDrawn="1"/>
          </p:nvCxnSpPr>
          <p:spPr bwMode="gray">
            <a:xfrm>
              <a:off x="60075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 bwMode="gray">
            <a:xfrm>
              <a:off x="7534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 userDrawn="1"/>
          </p:nvCxnSpPr>
          <p:spPr bwMode="gray">
            <a:xfrm>
              <a:off x="90621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 userDrawn="1"/>
          </p:nvCxnSpPr>
          <p:spPr bwMode="gray">
            <a:xfrm>
              <a:off x="105894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 userDrawn="1"/>
          </p:nvCxnSpPr>
          <p:spPr bwMode="gray">
            <a:xfrm>
              <a:off x="12116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 userDrawn="1"/>
          </p:nvCxnSpPr>
          <p:spPr bwMode="gray">
            <a:xfrm>
              <a:off x="136440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 userDrawn="1"/>
          </p:nvCxnSpPr>
          <p:spPr bwMode="gray">
            <a:xfrm>
              <a:off x="15171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 userDrawn="1"/>
          </p:nvCxnSpPr>
          <p:spPr bwMode="gray">
            <a:xfrm>
              <a:off x="166986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 userDrawn="1"/>
          </p:nvCxnSpPr>
          <p:spPr bwMode="gray">
            <a:xfrm>
              <a:off x="182259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 userDrawn="1"/>
          </p:nvCxnSpPr>
          <p:spPr bwMode="gray">
            <a:xfrm>
              <a:off x="19753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 userDrawn="1"/>
          </p:nvCxnSpPr>
          <p:spPr bwMode="gray">
            <a:xfrm>
              <a:off x="212805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 userDrawn="1"/>
          </p:nvCxnSpPr>
          <p:spPr bwMode="gray">
            <a:xfrm>
              <a:off x="22807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 userDrawn="1"/>
          </p:nvCxnSpPr>
          <p:spPr bwMode="gray">
            <a:xfrm>
              <a:off x="243351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 userDrawn="1"/>
          </p:nvCxnSpPr>
          <p:spPr bwMode="gray">
            <a:xfrm>
              <a:off x="258624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 userDrawn="1"/>
          </p:nvCxnSpPr>
          <p:spPr bwMode="gray">
            <a:xfrm>
              <a:off x="27389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 userDrawn="1"/>
          </p:nvCxnSpPr>
          <p:spPr bwMode="gray">
            <a:xfrm>
              <a:off x="289170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 userDrawn="1"/>
          </p:nvCxnSpPr>
          <p:spPr bwMode="gray">
            <a:xfrm>
              <a:off x="30444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 userDrawn="1"/>
          </p:nvCxnSpPr>
          <p:spPr bwMode="gray">
            <a:xfrm>
              <a:off x="319716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 userDrawn="1"/>
          </p:nvCxnSpPr>
          <p:spPr bwMode="gray">
            <a:xfrm>
              <a:off x="334989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 userDrawn="1"/>
          </p:nvCxnSpPr>
          <p:spPr bwMode="gray">
            <a:xfrm>
              <a:off x="35026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 userDrawn="1"/>
          </p:nvCxnSpPr>
          <p:spPr bwMode="gray">
            <a:xfrm>
              <a:off x="365535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 userDrawn="1"/>
          </p:nvCxnSpPr>
          <p:spPr bwMode="gray">
            <a:xfrm>
              <a:off x="38080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 userDrawn="1"/>
          </p:nvCxnSpPr>
          <p:spPr bwMode="gray">
            <a:xfrm>
              <a:off x="396081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 userDrawn="1"/>
          </p:nvCxnSpPr>
          <p:spPr bwMode="gray">
            <a:xfrm>
              <a:off x="411354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 userDrawn="1"/>
          </p:nvCxnSpPr>
          <p:spPr bwMode="gray">
            <a:xfrm>
              <a:off x="42662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 userDrawn="1"/>
          </p:nvCxnSpPr>
          <p:spPr bwMode="gray">
            <a:xfrm>
              <a:off x="441899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 userDrawn="1"/>
          </p:nvCxnSpPr>
          <p:spPr bwMode="gray">
            <a:xfrm>
              <a:off x="45717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 userDrawn="1"/>
          </p:nvCxnSpPr>
          <p:spPr bwMode="gray">
            <a:xfrm>
              <a:off x="472445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 userDrawn="1"/>
          </p:nvCxnSpPr>
          <p:spPr bwMode="gray">
            <a:xfrm>
              <a:off x="48771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 userDrawn="1"/>
          </p:nvCxnSpPr>
          <p:spPr bwMode="gray">
            <a:xfrm>
              <a:off x="502991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 userDrawn="1"/>
          </p:nvCxnSpPr>
          <p:spPr bwMode="gray">
            <a:xfrm>
              <a:off x="518264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 userDrawn="1"/>
          </p:nvCxnSpPr>
          <p:spPr bwMode="gray">
            <a:xfrm>
              <a:off x="53353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 userDrawn="1"/>
          </p:nvCxnSpPr>
          <p:spPr bwMode="gray">
            <a:xfrm>
              <a:off x="548810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 userDrawn="1"/>
          </p:nvCxnSpPr>
          <p:spPr bwMode="gray">
            <a:xfrm>
              <a:off x="56408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 userDrawn="1"/>
          </p:nvCxnSpPr>
          <p:spPr bwMode="gray">
            <a:xfrm>
              <a:off x="579356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 userDrawn="1"/>
          </p:nvCxnSpPr>
          <p:spPr bwMode="gray">
            <a:xfrm>
              <a:off x="594629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 userDrawn="1"/>
          </p:nvCxnSpPr>
          <p:spPr bwMode="gray">
            <a:xfrm>
              <a:off x="60990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 userDrawn="1"/>
          </p:nvCxnSpPr>
          <p:spPr bwMode="gray">
            <a:xfrm>
              <a:off x="625175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 userDrawn="1"/>
          </p:nvCxnSpPr>
          <p:spPr bwMode="gray">
            <a:xfrm>
              <a:off x="64044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 userDrawn="1"/>
          </p:nvCxnSpPr>
          <p:spPr bwMode="gray">
            <a:xfrm>
              <a:off x="655721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 userDrawn="1"/>
          </p:nvCxnSpPr>
          <p:spPr bwMode="gray">
            <a:xfrm>
              <a:off x="670994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 userDrawn="1"/>
          </p:nvCxnSpPr>
          <p:spPr bwMode="gray">
            <a:xfrm>
              <a:off x="68626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 userDrawn="1"/>
          </p:nvCxnSpPr>
          <p:spPr bwMode="gray">
            <a:xfrm>
              <a:off x="701540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 userDrawn="1"/>
          </p:nvCxnSpPr>
          <p:spPr bwMode="gray">
            <a:xfrm>
              <a:off x="71681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 userDrawn="1"/>
          </p:nvCxnSpPr>
          <p:spPr bwMode="gray">
            <a:xfrm>
              <a:off x="732086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 userDrawn="1"/>
          </p:nvCxnSpPr>
          <p:spPr bwMode="gray">
            <a:xfrm>
              <a:off x="747359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 userDrawn="1"/>
          </p:nvCxnSpPr>
          <p:spPr bwMode="gray">
            <a:xfrm>
              <a:off x="76263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 userDrawn="1"/>
          </p:nvCxnSpPr>
          <p:spPr bwMode="gray">
            <a:xfrm>
              <a:off x="777905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 userDrawn="1"/>
          </p:nvCxnSpPr>
          <p:spPr bwMode="gray">
            <a:xfrm>
              <a:off x="79317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 userDrawn="1"/>
          </p:nvCxnSpPr>
          <p:spPr bwMode="gray">
            <a:xfrm>
              <a:off x="808450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/>
            <p:nvPr userDrawn="1"/>
          </p:nvCxnSpPr>
          <p:spPr bwMode="gray">
            <a:xfrm>
              <a:off x="823723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 userDrawn="1"/>
          </p:nvCxnSpPr>
          <p:spPr bwMode="gray">
            <a:xfrm>
              <a:off x="83899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 userDrawn="1"/>
          </p:nvCxnSpPr>
          <p:spPr bwMode="gray">
            <a:xfrm>
              <a:off x="854269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/>
            <p:nvPr userDrawn="1"/>
          </p:nvCxnSpPr>
          <p:spPr bwMode="gray">
            <a:xfrm>
              <a:off x="86954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 userDrawn="1"/>
          </p:nvCxnSpPr>
          <p:spPr bwMode="gray">
            <a:xfrm>
              <a:off x="884815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/>
            <p:cNvCxnSpPr/>
            <p:nvPr userDrawn="1"/>
          </p:nvCxnSpPr>
          <p:spPr bwMode="gray">
            <a:xfrm>
              <a:off x="900088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1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64000" y="0"/>
            <a:ext cx="11379200" cy="77024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sp>
        <p:nvSpPr>
          <p:cNvPr id="7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464000" y="1401600"/>
            <a:ext cx="11379200" cy="5075400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>
            <a:lvl1pPr>
              <a:defRPr lang="en-US" sz="2400" smtClean="0"/>
            </a:lvl1pPr>
            <a:lvl2pPr>
              <a:defRPr lang="en-US" sz="2133" smtClean="0"/>
            </a:lvl2pPr>
            <a:lvl3pPr>
              <a:defRPr lang="en-US" sz="1867" smtClean="0"/>
            </a:lvl3pPr>
            <a:lvl4pPr>
              <a:defRPr lang="en-US" sz="1600" smtClean="0"/>
            </a:lvl4pPr>
            <a:lvl5pPr>
              <a:defRPr lang="en-US" sz="1467" dirty="0"/>
            </a:lvl5pPr>
          </a:lstStyle>
          <a:p>
            <a:pPr lvl="0"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lvl="1"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lvl="2"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lvl="3"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lvl="4"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9A9DE057-7750-4B1F-AD64-303D665A2CDB}"/>
              </a:ext>
            </a:extLst>
          </p:cNvPr>
          <p:cNvSpPr/>
          <p:nvPr userDrawn="1"/>
        </p:nvSpPr>
        <p:spPr>
          <a:xfrm>
            <a:off x="511605" y="859984"/>
            <a:ext cx="1393371" cy="48768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410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586836B-C327-49CB-ADF2-2E730C4A91B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310F61-136C-42B3-981B-FDE3DD0A8135}"/>
              </a:ext>
            </a:extLst>
          </p:cNvPr>
          <p:cNvSpPr/>
          <p:nvPr/>
        </p:nvSpPr>
        <p:spPr>
          <a:xfrm>
            <a:off x="1478322" y="709375"/>
            <a:ext cx="10713675" cy="541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AF870-601F-4570-A8A9-1003F893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CCECD-B6E7-4C40-8A84-65FD5A3F0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825625"/>
            <a:ext cx="105430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EFA4D-0E39-4E26-B43C-5D1084B3B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E8352ED3-3C46-4C9A-9738-67B2D875E7E2}" type="datetime2">
              <a:rPr lang="en-US" smtClean="0"/>
              <a:pPr/>
              <a:t>Tuesday, April 6, 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851EA-2F2C-4012-8B96-51179BDD1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B8ACB-7A60-4D76-A149-0C57A30E0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720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  <p:sldLayoutId id="2147483687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ts val="2800"/>
        </a:lnSpc>
        <a:spcBef>
          <a:spcPts val="1000"/>
        </a:spcBef>
        <a:buClr>
          <a:schemeClr val="accent2"/>
        </a:buClr>
        <a:buFont typeface="Wingdings 2" panose="05020102010507070707" pitchFamily="18" charset="2"/>
        <a:buChar char="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ts val="28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ts val="28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ts val="28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ts val="28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11" Type="http://schemas.openxmlformats.org/officeDocument/2006/relationships/image" Target="../media/image13.jpg"/><Relationship Id="rId5" Type="http://schemas.openxmlformats.org/officeDocument/2006/relationships/image" Target="../media/image8.png"/><Relationship Id="rId10" Type="http://schemas.microsoft.com/office/2007/relationships/hdphoto" Target="../media/hdphoto1.wdp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3C994B4-9721-4148-9EEC-6793CECDE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3" y="-1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D95E49-763A-4886-B038-82F734740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41CEA24-8518-4C08-A11E-B7E64FB31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699899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D24F66-6C02-4373-9B4D-A9D0D28FD6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4498" y="1301712"/>
            <a:ext cx="8966815" cy="1728567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8B794C-027D-4B81-9934-6C759B92AF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9" y="3965418"/>
            <a:ext cx="6092786" cy="2192683"/>
          </a:xfrm>
        </p:spPr>
        <p:txBody>
          <a:bodyPr>
            <a:normAutofit/>
          </a:bodyPr>
          <a:lstStyle/>
          <a:p>
            <a:pPr algn="l"/>
            <a:r>
              <a:rPr lang="en-US" sz="4000" b="1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CareEvent</a:t>
            </a:r>
            <a:endParaRPr lang="en-US" sz="4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AA74EAB-FD76-4F40-A962-CEADC3054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" y="1425169"/>
            <a:ext cx="873459" cy="4758471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C87B12C-AB42-47DF-BEEB-69CD136A0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rgbClr val="21B82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4085229-A9F2-470C-9EEA-CFA3B7CE1B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rgbClr val="21B82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07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99D947B-1B59-4322-8CF2-73E813419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Background Gray Rectangle">
            <a:extLst>
              <a:ext uri="{FF2B5EF4-FFF2-40B4-BE49-F238E27FC236}">
                <a16:creationId xmlns:a16="http://schemas.microsoft.com/office/drawing/2014/main" id="{D803427E-36C0-4811-BE64-ACF653F6A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White Rectangle">
            <a:extLst>
              <a:ext uri="{FF2B5EF4-FFF2-40B4-BE49-F238E27FC236}">
                <a16:creationId xmlns:a16="http://schemas.microsoft.com/office/drawing/2014/main" id="{D9231370-89C4-4981-8C91-A3F3D1146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36F808-9E07-4F42-9641-A61B4CBB8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45" y="940910"/>
            <a:ext cx="4471588" cy="4976179"/>
          </a:xfrm>
        </p:spPr>
        <p:txBody>
          <a:bodyPr>
            <a:noAutofit/>
          </a:bodyPr>
          <a:lstStyle/>
          <a:p>
            <a:br>
              <a:rPr lang="en-US" sz="4400" dirty="0"/>
            </a:br>
            <a:br>
              <a:rPr lang="en-US" sz="4400" dirty="0"/>
            </a:br>
            <a:br>
              <a:rPr lang="en-US" sz="4400" dirty="0"/>
            </a:br>
            <a:br>
              <a:rPr lang="en-US" sz="4400" dirty="0"/>
            </a:br>
            <a:br>
              <a:rPr lang="en-US" sz="4400" dirty="0"/>
            </a:br>
            <a:br>
              <a:rPr lang="en-US" sz="4400" dirty="0"/>
            </a:br>
            <a:br>
              <a:rPr lang="en-US" sz="4400" dirty="0"/>
            </a:br>
            <a:r>
              <a:rPr lang="en-US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Intended use</a:t>
            </a:r>
            <a:br>
              <a:rPr lang="en-US" sz="4400" dirty="0"/>
            </a:br>
            <a:endParaRPr lang="en-US" sz="4400" dirty="0"/>
          </a:p>
        </p:txBody>
      </p:sp>
      <p:cxnSp>
        <p:nvCxnSpPr>
          <p:cNvPr id="15" name="Vertical Connector">
            <a:extLst>
              <a:ext uri="{FF2B5EF4-FFF2-40B4-BE49-F238E27FC236}">
                <a16:creationId xmlns:a16="http://schemas.microsoft.com/office/drawing/2014/main" id="{474D4826-9FF4-4E17-AB42-146B76BD3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rgbClr val="21B82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Horizontal Connector 2">
            <a:extLst>
              <a:ext uri="{FF2B5EF4-FFF2-40B4-BE49-F238E27FC236}">
                <a16:creationId xmlns:a16="http://schemas.microsoft.com/office/drawing/2014/main" id="{C5873965-CEB2-46E1-951E-037689B07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rgbClr val="21B82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21A776-BE9F-4F25-AE04-7AF570F678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5211604"/>
              </p:ext>
            </p:extLst>
          </p:nvPr>
        </p:nvGraphicFramePr>
        <p:xfrm>
          <a:off x="3840482" y="699997"/>
          <a:ext cx="8032650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C36E7493-7F0E-4DF8-ACC3-F415E07978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611" y="903144"/>
            <a:ext cx="2369062" cy="374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58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BB8A2-FA2C-45F0-A4DC-6F543D734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06327"/>
            <a:ext cx="10488381" cy="695149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Safety Standards</a:t>
            </a:r>
            <a:endParaRPr lang="en-US" sz="3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F21393-8CFE-4762-8A70-1573C13437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3262" t="16859" r="26439" b="13256"/>
          <a:stretch/>
        </p:blipFill>
        <p:spPr>
          <a:xfrm>
            <a:off x="2640553" y="1236949"/>
            <a:ext cx="7130768" cy="540911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F9A208-76F9-4F9B-8FB6-264E6F73A10B}"/>
              </a:ext>
            </a:extLst>
          </p:cNvPr>
          <p:cNvSpPr txBox="1"/>
          <p:nvPr/>
        </p:nvSpPr>
        <p:spPr>
          <a:xfrm>
            <a:off x="1581593" y="801476"/>
            <a:ext cx="104883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The device complies with the following safety requirements for medical electrical equipment</a:t>
            </a:r>
            <a:r>
              <a:rPr lang="en-US" sz="1800" b="0" i="0" u="none" strike="noStrike" baseline="0" dirty="0">
                <a:latin typeface="Garamond" panose="02020404030301010803" pitchFamily="18" charset="0"/>
              </a:rPr>
              <a:t>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332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9A17C-1DC4-43B9-B43E-B837C4F7D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43032" cy="634335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Regulatory and Safety Specifications</a:t>
            </a:r>
            <a:endParaRPr lang="en-US" sz="3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6B642-92D1-4F8A-B6C8-FCCC8EDE8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5" y="1222745"/>
            <a:ext cx="10543032" cy="4809264"/>
          </a:xfrm>
        </p:spPr>
        <p:txBody>
          <a:bodyPr/>
          <a:lstStyle/>
          <a:p>
            <a:pPr marL="0" indent="0" algn="l">
              <a:buNone/>
            </a:pPr>
            <a:r>
              <a:rPr lang="en-US" sz="2000" b="1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Declaration</a:t>
            </a:r>
          </a:p>
          <a:p>
            <a:pPr algn="l"/>
            <a:r>
              <a:rPr lang="en-US" sz="2000" b="0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CareEvent Software complies with the requirements of the Council Directive 93/42/EEC of 14 June 1993 concerning medical devices.</a:t>
            </a:r>
          </a:p>
          <a:p>
            <a:pPr algn="l"/>
            <a:r>
              <a:rPr lang="en-US" sz="2000" b="0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It carries CE-marking to the European Medical Device Directive. Compliance with Directive 93/42/EEC is inclusive of Amending Directive 2007/47/EEC.</a:t>
            </a:r>
          </a:p>
          <a:p>
            <a:pPr algn="l"/>
            <a:r>
              <a:rPr lang="en-US" sz="2000" b="0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PC workstation and servers carry CE-marking to the European Low Voltage and EMC Directives.</a:t>
            </a:r>
          </a:p>
          <a:p>
            <a:pPr algn="l"/>
            <a:r>
              <a:rPr lang="en-US" sz="2000" b="0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Directive as determined by the OEM supplier of the PC hardware. </a:t>
            </a:r>
          </a:p>
          <a:p>
            <a:pPr algn="l"/>
            <a:r>
              <a:rPr lang="en-US" sz="2000" b="0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Philips's system components are not suitable for installation in the Patient Care Vicinity (Patient Environment).</a:t>
            </a: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012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9F951-A62D-436C-8E8A-D4E900576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6"/>
            <a:ext cx="11179496" cy="793824"/>
          </a:xfrm>
        </p:spPr>
        <p:txBody>
          <a:bodyPr>
            <a:normAutofit/>
          </a:bodyPr>
          <a:lstStyle/>
          <a:p>
            <a:r>
              <a:rPr lang="en-US" sz="32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Program Details</a:t>
            </a:r>
            <a:endParaRPr lang="en-US" sz="3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995E0-839F-41AC-8166-ACDB7532B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4" y="1158950"/>
            <a:ext cx="11179497" cy="5178055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Publisher – Philips Electronics North America Corporation</a:t>
            </a:r>
          </a:p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Released Date – 2018-12-20</a:t>
            </a:r>
          </a:p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Languages – English</a:t>
            </a:r>
          </a:p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Category – Home &amp; Hobby</a:t>
            </a:r>
          </a:p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Sub-Category – Health &amp; Nutrition</a:t>
            </a:r>
          </a:p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Operating System – 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ios</a:t>
            </a: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File size – 88.39 MB</a:t>
            </a:r>
          </a:p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License Model – Free</a:t>
            </a:r>
          </a:p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Version – 5.4</a:t>
            </a:r>
          </a:p>
        </p:txBody>
      </p:sp>
    </p:spTree>
    <p:extLst>
      <p:ext uri="{BB962C8B-B14F-4D97-AF65-F5344CB8AC3E}">
        <p14:creationId xmlns:p14="http://schemas.microsoft.com/office/powerpoint/2010/main" val="1517033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44EC1-5F3F-44CD-8092-C9AA5D3CA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6"/>
            <a:ext cx="10543032" cy="761926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About CareEvent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5AE9E-1524-4562-9FD9-B609EB508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5" y="1244009"/>
            <a:ext cx="11285822" cy="4787999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CareEvent Showcase is a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free software application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from the Health &amp; Nutrition subcategory, part of the Home &amp; Hobby category.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The Philips CareEvent mobile application turns a smartphone into a valuable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clinical notification tool 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meet the workflow demands 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 nurses and caregivers who are constantly on the go within the hospital.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CareEvent Showcase (</a:t>
            </a:r>
            <a:r>
              <a:rPr lang="en-US" sz="20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version 5.4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 has a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file size </a:t>
            </a:r>
            <a:r>
              <a:rPr lang="en-US" sz="20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88.39 MB 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and is available for download from our website.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CareEvent app is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intended to be used by trained clinicians for review purposes only 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is not intended for primary monitoring. 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566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63D1D-DF48-49D9-86D0-C8C0BA52E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38224"/>
            <a:ext cx="10413953" cy="1307804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About CareEvent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32D40-87B7-490B-80AE-80D27640A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5" y="1158949"/>
            <a:ext cx="10903050" cy="487305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CareEvent mobile application software is designed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 operate on qualified mobile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These qualified mobile devices specified by Philips have been extensively tested and validated for system performance and data presentation (notification text, numeric and physiological waves).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Only these qualified mobile devices are supported by Philips for use with the CareEvent mobile application.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list of qualified mobile devices can be found in the CareEvent Mobility Integration Guide.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CareEvent app is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fully functional with required Philips CareEvent license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showcase version of the CareEvent is not a medical device.</a:t>
            </a: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52228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Background Gray Rectangle">
            <a:extLst>
              <a:ext uri="{FF2B5EF4-FFF2-40B4-BE49-F238E27FC236}">
                <a16:creationId xmlns:a16="http://schemas.microsoft.com/office/drawing/2014/main" id="{7C29659F-4824-4724-9EF7-F02D022C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-14198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0DB0BB-2305-4947-B0BD-DD912E293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09FF93-B1A2-457C-BABC-C58E966BA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012" y="943156"/>
            <a:ext cx="5217894" cy="83617"/>
          </a:xfrm>
        </p:spPr>
        <p:txBody>
          <a:bodyPr anchor="ctr">
            <a:normAutofit fontScale="90000"/>
          </a:bodyPr>
          <a:lstStyle/>
          <a:p>
            <a:r>
              <a:rPr lang="en-US" sz="4800" b="1" dirty="0">
                <a:solidFill>
                  <a:srgbClr val="00B0F0"/>
                </a:solidFill>
              </a:rPr>
              <a:t>Project Challenges</a:t>
            </a:r>
            <a:br>
              <a:rPr lang="en-US" sz="48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US" sz="4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C4E5A-93C6-4F63-BC1E-2355A968F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5375" y="655755"/>
            <a:ext cx="6062720" cy="2562326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Transfer Clinical Evaluation Report from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</a:rPr>
              <a:t>MDD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 to MDR requirement.</a:t>
            </a:r>
          </a:p>
          <a:p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Separate a complex CEP &amp; CER of two products into individual documents for each during annual update.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1EEBAC-7FE3-4931-B6B6-8DBD416D7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rgbClr val="21B82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3283366-6C8D-422F-9759-B3E4A3523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rgbClr val="21B82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CD9C37C-7DEA-4208-9A90-C3E5F72FEF23}"/>
              </a:ext>
            </a:extLst>
          </p:cNvPr>
          <p:cNvSpPr/>
          <p:nvPr/>
        </p:nvSpPr>
        <p:spPr>
          <a:xfrm>
            <a:off x="430012" y="3244334"/>
            <a:ext cx="566598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rgbClr val="00B0F0"/>
                </a:solidFill>
              </a:rPr>
              <a:t>Service provided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C72633-37EC-4BDA-882E-F10A48CD94A8}"/>
              </a:ext>
            </a:extLst>
          </p:cNvPr>
          <p:cNvSpPr/>
          <p:nvPr/>
        </p:nvSpPr>
        <p:spPr>
          <a:xfrm>
            <a:off x="4952094" y="2967610"/>
            <a:ext cx="654255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Understand the complex product with available information, review available documents and make a checklist of required documents for completing the activity.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Change and Update Clinical Evaluation Plan in new template.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Perform additional literature search for annual update.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Analyse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Internal Vigilance data, appraised and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summarised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as per requirement.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Change CER in new template as per MDR requirement.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Add new sections, latest literature and Vigilance data in the CER.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Separate existing one CER for two products into two standalone CER.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91A9F1-3269-42E0-928D-B61D93F52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16" y="1085908"/>
            <a:ext cx="3632062" cy="17577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FFF044-0773-40BC-80D9-C00060053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15" y="3966389"/>
            <a:ext cx="3632063" cy="193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178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ED6799D-4A30-4426-B1D1-73A16A53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D53964-75DB-47FC-995E-A11B07A07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1D54AB-1B89-42B2-90D1-A01C9152C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0EFD53-0074-4A30-832D-C4FDF0C28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898" y="302859"/>
            <a:ext cx="5204176" cy="1905769"/>
          </a:xfrm>
        </p:spPr>
        <p:txBody>
          <a:bodyPr anchor="b">
            <a:normAutofit/>
          </a:bodyPr>
          <a:lstStyle/>
          <a:p>
            <a:r>
              <a:rPr lang="en-US" sz="4800" dirty="0">
                <a:solidFill>
                  <a:srgbClr val="00B0F0"/>
                </a:solidFill>
              </a:rPr>
              <a:t>Customer benefits</a:t>
            </a:r>
            <a:br>
              <a:rPr lang="en-US" sz="4800" dirty="0"/>
            </a:b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9CC96-5725-4E4C-995D-D38892D0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898" y="1913209"/>
            <a:ext cx="5515348" cy="4024010"/>
          </a:xfrm>
        </p:spPr>
        <p:txBody>
          <a:bodyPr>
            <a:normAutofit/>
          </a:bodyPr>
          <a:lstStyle/>
          <a:p>
            <a:r>
              <a:rPr lang="en-US" sz="2000" dirty="0"/>
              <a:t>Execution the Clinical Evaluation Report in line with all the Regulatory requirements</a:t>
            </a:r>
          </a:p>
          <a:p>
            <a:r>
              <a:rPr lang="en-US" sz="2000" dirty="0"/>
              <a:t>Executed the Project with committed Quality as used Multiple level of review</a:t>
            </a:r>
          </a:p>
          <a:p>
            <a:r>
              <a:rPr lang="en-US" sz="2000" dirty="0"/>
              <a:t>Intimated the Project progress in a timely manner which helped Abbott to plan their Regulatory Submission</a:t>
            </a:r>
          </a:p>
          <a:p>
            <a:endParaRPr lang="en-US" sz="20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986B129-4161-4F17-B0F0-C5532551D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rgbClr val="21B82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1455C73-3A5E-4FE8-8383-DD667D9A62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rgbClr val="21B82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79712DE8-94E0-4F45-81D9-37AF7A32F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109854" y="685796"/>
            <a:ext cx="5391685" cy="5492009"/>
          </a:xfrm>
          <a:prstGeom prst="rect">
            <a:avLst/>
          </a:prstGeom>
          <a:solidFill>
            <a:srgbClr val="21B82F">
              <a:alpha val="20000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E12F46-C3FD-4825-B980-0C372A83A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1179" y="1414525"/>
            <a:ext cx="3817384" cy="4071876"/>
          </a:xfrm>
          <a:prstGeom prst="rect">
            <a:avLst/>
          </a:prstGeom>
        </p:spPr>
      </p:pic>
      <p:sp>
        <p:nvSpPr>
          <p:cNvPr id="4" name="AutoShape 2" descr="See the source image">
            <a:extLst>
              <a:ext uri="{FF2B5EF4-FFF2-40B4-BE49-F238E27FC236}">
                <a16:creationId xmlns:a16="http://schemas.microsoft.com/office/drawing/2014/main" id="{607671D4-7F08-4B15-A204-524F17D195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867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Placeholder 4"/>
          <p:cNvSpPr>
            <a:spLocks noGrp="1"/>
          </p:cNvSpPr>
          <p:nvPr/>
        </p:nvSpPr>
        <p:spPr>
          <a:xfrm>
            <a:off x="4667084" y="1088740"/>
            <a:ext cx="6932059" cy="71045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 lang="en-US"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891" marR="0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 lang="en-US"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782" marR="0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 lang="en-US"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674" marR="0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 lang="en-US"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566" marR="0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 lang="en-US"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4768" marR="0" lvl="1" indent="-304768" algn="l" defTabSz="91435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533"/>
              </a:spcAft>
              <a:buClrTx/>
              <a:buSzPct val="115000"/>
              <a:buFontTx/>
              <a:buBlip>
                <a:blip r:embed="rId3"/>
              </a:buBlip>
              <a:tabLst>
                <a:tab pos="180966" algn="l"/>
              </a:tabLst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Calibri" charset="0"/>
                <a:cs typeface="Calibri" charset="0"/>
              </a:rPr>
              <a:t>Transfer </a:t>
            </a:r>
            <a:r>
              <a:rPr lang="en-IN" sz="1400" dirty="0">
                <a:solidFill>
                  <a:schemeClr val="tx1"/>
                </a:solidFill>
                <a:latin typeface="Calibri"/>
                <a:ea typeface="Calibri" charset="0"/>
                <a:cs typeface="Calibri" charset="0"/>
              </a:rPr>
              <a:t>Clinical Evaluation Report from </a:t>
            </a:r>
            <a:r>
              <a:rPr lang="en-IN" sz="1400" dirty="0" err="1">
                <a:solidFill>
                  <a:schemeClr val="tx1"/>
                </a:solidFill>
                <a:latin typeface="Calibri"/>
                <a:ea typeface="Calibri" charset="0"/>
                <a:cs typeface="Calibri" charset="0"/>
              </a:rPr>
              <a:t>MDD</a:t>
            </a:r>
            <a:r>
              <a:rPr lang="en-IN" sz="1400" dirty="0">
                <a:solidFill>
                  <a:schemeClr val="tx1"/>
                </a:solidFill>
                <a:latin typeface="Calibri"/>
                <a:ea typeface="Calibri" charset="0"/>
                <a:cs typeface="Calibri" charset="0"/>
              </a:rPr>
              <a:t> to MDR requirement.</a:t>
            </a:r>
          </a:p>
          <a:p>
            <a:pPr marL="304768" marR="0" lvl="1" indent="-304768" algn="l" defTabSz="91435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533"/>
              </a:spcAft>
              <a:buClrTx/>
              <a:buSzPct val="115000"/>
              <a:buFontTx/>
              <a:buBlip>
                <a:blip r:embed="rId3"/>
              </a:buBlip>
              <a:tabLst>
                <a:tab pos="180966" algn="l"/>
              </a:tabLst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Calibri" charset="0"/>
                <a:cs typeface="Calibri" charset="0"/>
              </a:rPr>
              <a:t>Separate a complex CEP &amp; CER of two products into individual documents for each during annual update.</a:t>
            </a:r>
          </a:p>
        </p:txBody>
      </p:sp>
      <p:sp>
        <p:nvSpPr>
          <p:cNvPr id="61" name="Text Placeholder 4"/>
          <p:cNvSpPr>
            <a:spLocks noGrp="1"/>
          </p:cNvSpPr>
          <p:nvPr/>
        </p:nvSpPr>
        <p:spPr>
          <a:xfrm>
            <a:off x="4610135" y="2312876"/>
            <a:ext cx="6810180" cy="218521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 lang="en-US"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891" marR="0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 lang="en-US"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782" marR="0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 lang="en-US"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674" marR="0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 lang="en-US"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566" marR="0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 lang="en-US"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4768" marR="0" lvl="1" indent="-304768" algn="just" defTabSz="91435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Pct val="115000"/>
              <a:buFontTx/>
              <a:buBlip>
                <a:blip r:embed="rId3"/>
              </a:buBlip>
              <a:tabLst>
                <a:tab pos="180966" algn="l"/>
              </a:tabLst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Calibri" charset="0"/>
                <a:cs typeface="Calibri" charset="0"/>
              </a:rPr>
              <a:t>Understand the complex product with available information, review available documents and make a checklist of required documents for completing the activity.</a:t>
            </a:r>
          </a:p>
          <a:p>
            <a:pPr marL="304768" marR="0" lvl="1" indent="-304768" algn="just" defTabSz="91435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Pct val="115000"/>
              <a:buFontTx/>
              <a:buBlip>
                <a:blip r:embed="rId3"/>
              </a:buBlip>
              <a:tabLst>
                <a:tab pos="180966" algn="l"/>
              </a:tabLst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Calibri" charset="0"/>
                <a:cs typeface="Calibri" charset="0"/>
              </a:rPr>
              <a:t>Change and Update Clinical Evaluation Plan in new template.</a:t>
            </a:r>
          </a:p>
          <a:p>
            <a:pPr marL="304768" marR="0" lvl="1" indent="-304768" algn="just" defTabSz="91435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Pct val="115000"/>
              <a:buFontTx/>
              <a:buBlip>
                <a:blip r:embed="rId3"/>
              </a:buBlip>
              <a:tabLst>
                <a:tab pos="180966" algn="l"/>
              </a:tabLst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Calibri" charset="0"/>
                <a:cs typeface="Calibri" charset="0"/>
              </a:rPr>
              <a:t>Perform additional literature search for annual update.</a:t>
            </a:r>
          </a:p>
          <a:p>
            <a:pPr marL="304768" marR="0" lvl="1" indent="-304768" algn="just" defTabSz="91435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Pct val="115000"/>
              <a:buFontTx/>
              <a:buBlip>
                <a:blip r:embed="rId3"/>
              </a:buBlip>
              <a:tabLst>
                <a:tab pos="180966" algn="l"/>
              </a:tabLst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Calibri" charset="0"/>
                <a:cs typeface="Calibri" charset="0"/>
              </a:rPr>
              <a:t>Analyse Internal Vigilance data, appraised and summarised as per requirement.</a:t>
            </a:r>
          </a:p>
          <a:p>
            <a:pPr marL="304768" marR="0" lvl="1" indent="-304768" algn="just" defTabSz="91435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Pct val="115000"/>
              <a:buFontTx/>
              <a:buBlip>
                <a:blip r:embed="rId3"/>
              </a:buBlip>
              <a:tabLst>
                <a:tab pos="180966" algn="l"/>
              </a:tabLst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Calibri" charset="0"/>
                <a:cs typeface="Calibri" charset="0"/>
              </a:rPr>
              <a:t>Change CER in new template as per MDR requirement.</a:t>
            </a:r>
          </a:p>
          <a:p>
            <a:pPr marL="304768" marR="0" lvl="1" indent="-304768" algn="just" defTabSz="91435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Pct val="115000"/>
              <a:buFontTx/>
              <a:buBlip>
                <a:blip r:embed="rId3"/>
              </a:buBlip>
              <a:tabLst>
                <a:tab pos="180966" algn="l"/>
              </a:tabLst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Calibri" charset="0"/>
                <a:cs typeface="Calibri" charset="0"/>
              </a:rPr>
              <a:t>Add new sections, latest literature and Vigilance data in the CER.</a:t>
            </a:r>
          </a:p>
          <a:p>
            <a:pPr marL="304768" marR="0" lvl="1" indent="-304768" algn="just" defTabSz="91435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Pct val="115000"/>
              <a:buFontTx/>
              <a:buBlip>
                <a:blip r:embed="rId3"/>
              </a:buBlip>
              <a:tabLst>
                <a:tab pos="180966" algn="l"/>
              </a:tabLst>
              <a:defRPr/>
            </a:pPr>
            <a:r>
              <a:rPr lang="en-IN" sz="1400" dirty="0">
                <a:solidFill>
                  <a:schemeClr val="tx1"/>
                </a:solidFill>
                <a:latin typeface="Calibri"/>
                <a:ea typeface="Calibri" charset="0"/>
                <a:cs typeface="Calibri" charset="0"/>
              </a:rPr>
              <a:t>Separate existing one CER for two products into two standalone CER.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Calibri" charset="0"/>
              <a:cs typeface="Calibri" charset="0"/>
            </a:endParaRPr>
          </a:p>
        </p:txBody>
      </p:sp>
      <p:sp>
        <p:nvSpPr>
          <p:cNvPr id="62" name="Text Placeholder 4"/>
          <p:cNvSpPr>
            <a:spLocks noGrp="1"/>
          </p:cNvSpPr>
          <p:nvPr/>
        </p:nvSpPr>
        <p:spPr>
          <a:xfrm>
            <a:off x="4667084" y="4923740"/>
            <a:ext cx="6932059" cy="50783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 lang="en-US"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891" marR="0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 lang="en-US"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782" marR="0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 lang="en-US"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674" marR="0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 lang="en-US"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566" marR="0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 lang="en-US"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4768" marR="0" lvl="1" indent="-304768" algn="l" defTabSz="91435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Pct val="115000"/>
              <a:buFontTx/>
              <a:buBlip>
                <a:blip r:embed="rId3"/>
              </a:buBlip>
              <a:tabLst>
                <a:tab pos="180966" algn="l"/>
              </a:tabLst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Calibri" charset="0"/>
                <a:cs typeface="Calibri" charset="0"/>
              </a:rPr>
              <a:t>Successfully transitioned the  CEP &amp; CER as per new MDR requirements</a:t>
            </a:r>
          </a:p>
          <a:p>
            <a:pPr marL="304768" marR="0" lvl="1" indent="-304768" algn="l" defTabSz="91435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533"/>
              </a:spcAft>
              <a:buClrTx/>
              <a:buSzPct val="115000"/>
              <a:buFontTx/>
              <a:buBlip>
                <a:blip r:embed="rId3"/>
              </a:buBlip>
              <a:tabLst>
                <a:tab pos="180966" algn="l"/>
              </a:tabLst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Calibri" charset="0"/>
                <a:cs typeface="Calibri" charset="0"/>
              </a:rPr>
              <a:t>Offshore driven project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67084" y="786593"/>
            <a:ext cx="17363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cap="all" dirty="0">
                <a:ea typeface="Calibri" charset="0"/>
                <a:cs typeface="Arial" panose="020B0604020202020204" pitchFamily="34" charset="0"/>
              </a:rPr>
              <a:t>The Challenge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67084" y="4535832"/>
            <a:ext cx="28927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cap="all" dirty="0">
                <a:ea typeface="Calibri" charset="0"/>
                <a:cs typeface="Arial" panose="020B0604020202020204" pitchFamily="34" charset="0"/>
              </a:rPr>
              <a:t>BUSINESS VALUE DELIVERED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610135" y="1875210"/>
            <a:ext cx="24012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cap="all" dirty="0">
                <a:ea typeface="Calibri" charset="0"/>
                <a:cs typeface="Arial" panose="020B0604020202020204" pitchFamily="34" charset="0"/>
              </a:rPr>
              <a:t>Solution Highlights</a:t>
            </a:r>
          </a:p>
        </p:txBody>
      </p:sp>
      <p:sp>
        <p:nvSpPr>
          <p:cNvPr id="96" name="Parallelogram 95"/>
          <p:cNvSpPr/>
          <p:nvPr/>
        </p:nvSpPr>
        <p:spPr>
          <a:xfrm>
            <a:off x="406400" y="5894549"/>
            <a:ext cx="3963965" cy="548839"/>
          </a:xfrm>
          <a:prstGeom prst="parallelogram">
            <a:avLst>
              <a:gd name="adj" fmla="val 47881"/>
            </a:avLst>
          </a:prstGeom>
          <a:solidFill>
            <a:srgbClr val="0556C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783"/>
            <a:r>
              <a:rPr lang="en-IN" sz="1600" b="1" kern="0" dirty="0">
                <a:solidFill>
                  <a:srgbClr val="FFFFFF"/>
                </a:solidFill>
                <a:cs typeface="Arial" panose="020B0604020202020204" pitchFamily="34" charset="0"/>
              </a:rPr>
              <a:t>Neuro Modulation Devices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610135" y="5752111"/>
            <a:ext cx="7529848" cy="989257"/>
            <a:chOff x="4610135" y="5752111"/>
            <a:chExt cx="7529848" cy="989257"/>
          </a:xfrm>
        </p:grpSpPr>
        <p:grpSp>
          <p:nvGrpSpPr>
            <p:cNvPr id="66" name="Group 65"/>
            <p:cNvGrpSpPr/>
            <p:nvPr/>
          </p:nvGrpSpPr>
          <p:grpSpPr>
            <a:xfrm>
              <a:off x="4610135" y="6002703"/>
              <a:ext cx="7529848" cy="738665"/>
              <a:chOff x="4662152" y="5924246"/>
              <a:chExt cx="7461161" cy="759823"/>
            </a:xfrm>
          </p:grpSpPr>
          <p:sp>
            <p:nvSpPr>
              <p:cNvPr id="67" name="Freeform 12"/>
              <p:cNvSpPr/>
              <p:nvPr/>
            </p:nvSpPr>
            <p:spPr>
              <a:xfrm>
                <a:off x="4662152" y="5993637"/>
                <a:ext cx="7461161" cy="610691"/>
              </a:xfrm>
              <a:custGeom>
                <a:avLst/>
                <a:gdLst>
                  <a:gd name="connsiteX0" fmla="*/ 0 w 8732520"/>
                  <a:gd name="connsiteY0" fmla="*/ 0 h 316232"/>
                  <a:gd name="connsiteX1" fmla="*/ 564834 w 8732520"/>
                  <a:gd name="connsiteY1" fmla="*/ 0 h 316232"/>
                  <a:gd name="connsiteX2" fmla="*/ 8404860 w 8732520"/>
                  <a:gd name="connsiteY2" fmla="*/ 0 h 316232"/>
                  <a:gd name="connsiteX3" fmla="*/ 8732520 w 8732520"/>
                  <a:gd name="connsiteY3" fmla="*/ 0 h 316232"/>
                  <a:gd name="connsiteX4" fmla="*/ 8495346 w 8732520"/>
                  <a:gd name="connsiteY4" fmla="*/ 316232 h 316232"/>
                  <a:gd name="connsiteX5" fmla="*/ 8404860 w 8732520"/>
                  <a:gd name="connsiteY5" fmla="*/ 316232 h 316232"/>
                  <a:gd name="connsiteX6" fmla="*/ 327660 w 8732520"/>
                  <a:gd name="connsiteY6" fmla="*/ 316232 h 316232"/>
                  <a:gd name="connsiteX7" fmla="*/ 0 w 8732520"/>
                  <a:gd name="connsiteY7" fmla="*/ 316232 h 316232"/>
                  <a:gd name="connsiteX0" fmla="*/ 0 w 8732520"/>
                  <a:gd name="connsiteY0" fmla="*/ 0 h 316232"/>
                  <a:gd name="connsiteX1" fmla="*/ 564834 w 8732520"/>
                  <a:gd name="connsiteY1" fmla="*/ 0 h 316232"/>
                  <a:gd name="connsiteX2" fmla="*/ 8404860 w 8732520"/>
                  <a:gd name="connsiteY2" fmla="*/ 0 h 316232"/>
                  <a:gd name="connsiteX3" fmla="*/ 8732520 w 8732520"/>
                  <a:gd name="connsiteY3" fmla="*/ 0 h 316232"/>
                  <a:gd name="connsiteX4" fmla="*/ 8495346 w 8732520"/>
                  <a:gd name="connsiteY4" fmla="*/ 316232 h 316232"/>
                  <a:gd name="connsiteX5" fmla="*/ 8404860 w 8732520"/>
                  <a:gd name="connsiteY5" fmla="*/ 316232 h 316232"/>
                  <a:gd name="connsiteX6" fmla="*/ 327660 w 8732520"/>
                  <a:gd name="connsiteY6" fmla="*/ 316232 h 316232"/>
                  <a:gd name="connsiteX7" fmla="*/ 0 w 8732520"/>
                  <a:gd name="connsiteY7" fmla="*/ 316232 h 316232"/>
                  <a:gd name="connsiteX8" fmla="*/ 0 w 8732520"/>
                  <a:gd name="connsiteY8" fmla="*/ 0 h 316232"/>
                  <a:gd name="connsiteX0" fmla="*/ 0 w 8732520"/>
                  <a:gd name="connsiteY0" fmla="*/ 0 h 316232"/>
                  <a:gd name="connsiteX1" fmla="*/ 564834 w 8732520"/>
                  <a:gd name="connsiteY1" fmla="*/ 0 h 316232"/>
                  <a:gd name="connsiteX2" fmla="*/ 8404860 w 8732520"/>
                  <a:gd name="connsiteY2" fmla="*/ 0 h 316232"/>
                  <a:gd name="connsiteX3" fmla="*/ 8732520 w 8732520"/>
                  <a:gd name="connsiteY3" fmla="*/ 0 h 316232"/>
                  <a:gd name="connsiteX4" fmla="*/ 8495346 w 8732520"/>
                  <a:gd name="connsiteY4" fmla="*/ 316232 h 316232"/>
                  <a:gd name="connsiteX5" fmla="*/ 8404860 w 8732520"/>
                  <a:gd name="connsiteY5" fmla="*/ 316232 h 316232"/>
                  <a:gd name="connsiteX6" fmla="*/ 327660 w 8732520"/>
                  <a:gd name="connsiteY6" fmla="*/ 316232 h 316232"/>
                  <a:gd name="connsiteX7" fmla="*/ 49070 w 8732520"/>
                  <a:gd name="connsiteY7" fmla="*/ 316232 h 316232"/>
                  <a:gd name="connsiteX8" fmla="*/ 0 w 8732520"/>
                  <a:gd name="connsiteY8" fmla="*/ 0 h 316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732520" h="316232">
                    <a:moveTo>
                      <a:pt x="0" y="0"/>
                    </a:moveTo>
                    <a:lnTo>
                      <a:pt x="564834" y="0"/>
                    </a:lnTo>
                    <a:lnTo>
                      <a:pt x="8404860" y="0"/>
                    </a:lnTo>
                    <a:lnTo>
                      <a:pt x="8732520" y="0"/>
                    </a:lnTo>
                    <a:lnTo>
                      <a:pt x="8495346" y="316232"/>
                    </a:lnTo>
                    <a:lnTo>
                      <a:pt x="8404860" y="316232"/>
                    </a:lnTo>
                    <a:lnTo>
                      <a:pt x="327660" y="316232"/>
                    </a:lnTo>
                    <a:lnTo>
                      <a:pt x="49070" y="316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Text" lastClr="000000">
                  <a:alpha val="6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067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Rectangle 67"/>
              <p:cNvSpPr/>
              <p:nvPr/>
            </p:nvSpPr>
            <p:spPr>
              <a:xfrm>
                <a:off x="4921494" y="6091510"/>
                <a:ext cx="1825240" cy="3165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Calibri" charset="0"/>
                    <a:cs typeface="Calibri" charset="0"/>
                  </a:rPr>
                  <a:t>Remediation</a:t>
                </a:r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9914037" y="5924246"/>
                <a:ext cx="2141101" cy="7598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Calibri" charset="0"/>
                    <a:cs typeface="Calibri" charset="0"/>
                  </a:rPr>
                  <a:t>Transitioned the document as per new requirement </a:t>
                </a:r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8604444" y="6166149"/>
                <a:ext cx="1319233" cy="3165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400" b="1" kern="0" dirty="0">
                    <a:solidFill>
                      <a:prstClr val="white"/>
                    </a:solidFill>
                    <a:latin typeface="Calibri"/>
                    <a:ea typeface="Calibri" charset="0"/>
                    <a:cs typeface="Calibri" charset="0"/>
                  </a:rPr>
                  <a:t>90</a:t>
                </a:r>
                <a:r>
                  <a:rPr kumimoji="0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Calibri" charset="0"/>
                    <a:cs typeface="Calibri" charset="0"/>
                  </a:rPr>
                  <a:t>%</a:t>
                </a:r>
              </a:p>
            </p:txBody>
          </p:sp>
          <p:cxnSp>
            <p:nvCxnSpPr>
              <p:cNvPr id="71" name="Straight Connector 70"/>
              <p:cNvCxnSpPr/>
              <p:nvPr/>
            </p:nvCxnSpPr>
            <p:spPr>
              <a:xfrm>
                <a:off x="6574872" y="6162663"/>
                <a:ext cx="0" cy="325067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2" name="Straight Connector 71"/>
              <p:cNvCxnSpPr/>
              <p:nvPr/>
            </p:nvCxnSpPr>
            <p:spPr>
              <a:xfrm>
                <a:off x="8421469" y="6147655"/>
                <a:ext cx="0" cy="325067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3" name="Straight Connector 72"/>
              <p:cNvCxnSpPr/>
              <p:nvPr/>
            </p:nvCxnSpPr>
            <p:spPr>
              <a:xfrm>
                <a:off x="9915245" y="6147653"/>
                <a:ext cx="0" cy="325067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</p:cxnSp>
          <p:sp>
            <p:nvSpPr>
              <p:cNvPr id="74" name="Rectangle 73"/>
              <p:cNvSpPr/>
              <p:nvPr/>
            </p:nvSpPr>
            <p:spPr>
              <a:xfrm>
                <a:off x="6547250" y="6017440"/>
                <a:ext cx="1925057" cy="5382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Calibri" charset="0"/>
                    <a:cs typeface="Calibri" charset="0"/>
                  </a:rPr>
                  <a:t>Neuromodulation Devices</a:t>
                </a:r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5242887" y="5773865"/>
              <a:ext cx="12661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1217142">
                <a:defRPr/>
              </a:pPr>
              <a:r>
                <a:rPr lang="en-US" sz="1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Calibri" charset="0"/>
                  <a:cs typeface="Calibri" charset="0"/>
                </a:rPr>
                <a:t>ENGAGEMENT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941982" y="5762019"/>
              <a:ext cx="12053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1217142">
                <a:defRPr/>
              </a:pPr>
              <a:r>
                <a:rPr lang="en-US" sz="1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Calibri" charset="0"/>
                  <a:cs typeface="Calibri" charset="0"/>
                </a:rPr>
                <a:t>TECHNOLOGY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509242" y="5757695"/>
              <a:ext cx="9680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1217142">
                <a:defRPr/>
              </a:pPr>
              <a:r>
                <a:rPr lang="en-US" sz="1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Calibri" charset="0"/>
                  <a:cs typeface="Calibri" charset="0"/>
                </a:rPr>
                <a:t>OUTCOME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717762" y="5757695"/>
              <a:ext cx="11169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1217142">
                <a:defRPr/>
              </a:pPr>
              <a:r>
                <a:rPr lang="en-US" sz="1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Calibri" charset="0"/>
                  <a:cs typeface="Calibri" charset="0"/>
                </a:rPr>
                <a:t>OWNERSHIP</a:t>
              </a:r>
            </a:p>
          </p:txBody>
        </p:sp>
        <p:pic>
          <p:nvPicPr>
            <p:cNvPr id="41" name="Picture 40"/>
            <p:cNvPicPr>
              <a:picLocks noChangeAspect="1"/>
            </p:cNvPicPr>
            <p:nvPr/>
          </p:nvPicPr>
          <p:blipFill>
            <a:blip r:embed="rId4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44936" y="5785162"/>
              <a:ext cx="275981" cy="275981"/>
            </a:xfrm>
            <a:prstGeom prst="rect">
              <a:avLst/>
            </a:prstGeom>
          </p:spPr>
        </p:pic>
        <p:pic>
          <p:nvPicPr>
            <p:cNvPr id="42" name="Picture 41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33619" y="5752111"/>
              <a:ext cx="285284" cy="290788"/>
            </a:xfrm>
            <a:prstGeom prst="rect">
              <a:avLst/>
            </a:prstGeom>
          </p:spPr>
        </p:pic>
        <p:pic>
          <p:nvPicPr>
            <p:cNvPr id="43" name="Picture 42"/>
            <p:cNvPicPr>
              <a:picLocks noChangeAspect="1"/>
            </p:cNvPicPr>
            <p:nvPr/>
          </p:nvPicPr>
          <p:blipFill>
            <a:blip r:embed="rId6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4517" y="5757694"/>
              <a:ext cx="278400" cy="278400"/>
            </a:xfrm>
            <a:prstGeom prst="rect">
              <a:avLst/>
            </a:prstGeom>
          </p:spPr>
        </p:pic>
        <p:sp>
          <p:nvSpPr>
            <p:cNvPr id="44" name="Pie 24"/>
            <p:cNvSpPr/>
            <p:nvPr/>
          </p:nvSpPr>
          <p:spPr>
            <a:xfrm>
              <a:off x="8467920" y="5752112"/>
              <a:ext cx="292360" cy="262287"/>
            </a:xfrm>
            <a:prstGeom prst="pie">
              <a:avLst>
                <a:gd name="adj1" fmla="val 21540277"/>
                <a:gd name="adj2" fmla="val 162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7142">
                <a:defRPr/>
              </a:pPr>
              <a:endParaRPr lang="en-US" sz="2400" b="1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34" name="Title 1"/>
          <p:cNvSpPr txBox="1">
            <a:spLocks/>
          </p:cNvSpPr>
          <p:nvPr/>
        </p:nvSpPr>
        <p:spPr>
          <a:xfrm>
            <a:off x="247026" y="98750"/>
            <a:ext cx="10938530" cy="5685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Arial" panose="020B0604020202020204" pitchFamily="34" charset="0"/>
              </a:rPr>
              <a:t>CER SUPPORT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230FD7-FDDC-400B-93CB-F548D1EA8E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4115" y="2819549"/>
            <a:ext cx="2029766" cy="25372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6C733C0-799B-40BC-AD1D-3FA971A59E72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3119" t="15876" r="18383" b="12471"/>
          <a:stretch/>
        </p:blipFill>
        <p:spPr>
          <a:xfrm>
            <a:off x="512321" y="1088740"/>
            <a:ext cx="1604646" cy="18928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923560-8940-469A-A1A1-5C43025A77A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artisticWatercolorSponge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8264" y="4020533"/>
            <a:ext cx="1207457" cy="10305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3135BD-A29C-4D35-8910-2782740167F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5868" y="1550533"/>
            <a:ext cx="971314" cy="73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02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Placeholder 4"/>
          <p:cNvSpPr>
            <a:spLocks noGrp="1"/>
          </p:cNvSpPr>
          <p:nvPr/>
        </p:nvSpPr>
        <p:spPr>
          <a:xfrm>
            <a:off x="4667084" y="1088740"/>
            <a:ext cx="6932059" cy="71045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 lang="en-US"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891" marR="0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 lang="en-US"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782" marR="0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 lang="en-US"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674" marR="0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 lang="en-US"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566" marR="0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 lang="en-US"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4768" lvl="1" indent="-304768" defTabSz="914354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533"/>
              </a:spcAft>
              <a:buSzPct val="115000"/>
              <a:buBlip>
                <a:blip r:embed="rId3"/>
              </a:buBlip>
              <a:tabLst>
                <a:tab pos="180966" algn="l"/>
              </a:tabLst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Calibri" charset="0"/>
                <a:cs typeface="Calibri" charset="0"/>
              </a:rPr>
              <a:t>Search relevant </a:t>
            </a:r>
            <a:r>
              <a:rPr lang="en-IN" sz="1400" dirty="0">
                <a:solidFill>
                  <a:schemeClr val="tx1"/>
                </a:solidFill>
                <a:ea typeface="Calibri" charset="0"/>
                <a:cs typeface="Calibri" charset="0"/>
              </a:rPr>
              <a:t>information for the accessories </a:t>
            </a:r>
            <a:r>
              <a:rPr lang="en-IN" sz="1400" dirty="0">
                <a:solidFill>
                  <a:schemeClr val="tx1"/>
                </a:solidFill>
                <a:latin typeface="Calibri"/>
                <a:ea typeface="Calibri" charset="0"/>
                <a:cs typeface="Calibri" charset="0"/>
              </a:rPr>
              <a:t>in external database for literature and post market surveillance data </a:t>
            </a:r>
          </a:p>
          <a:p>
            <a:pPr marL="304768" marR="0" lvl="1" indent="-304768" algn="l" defTabSz="91435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533"/>
              </a:spcAft>
              <a:buClrTx/>
              <a:buSzPct val="115000"/>
              <a:buFontTx/>
              <a:buBlip>
                <a:blip r:embed="rId3"/>
              </a:buBlip>
              <a:tabLst>
                <a:tab pos="180966" algn="l"/>
              </a:tabLst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Calibri" charset="0"/>
                <a:cs typeface="Calibri" charset="0"/>
              </a:rPr>
              <a:t>Add information for the newly added accessories in the </a:t>
            </a:r>
            <a:r>
              <a:rPr lang="en-IN" sz="1400" dirty="0">
                <a:solidFill>
                  <a:schemeClr val="tx1"/>
                </a:solidFill>
                <a:latin typeface="Calibri"/>
                <a:ea typeface="Calibri" charset="0"/>
                <a:cs typeface="Calibri" charset="0"/>
              </a:rPr>
              <a:t>CER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Calibri" charset="0"/>
              <a:cs typeface="Calibri" charset="0"/>
            </a:endParaRPr>
          </a:p>
        </p:txBody>
      </p:sp>
      <p:sp>
        <p:nvSpPr>
          <p:cNvPr id="61" name="Text Placeholder 4"/>
          <p:cNvSpPr>
            <a:spLocks noGrp="1"/>
          </p:cNvSpPr>
          <p:nvPr/>
        </p:nvSpPr>
        <p:spPr>
          <a:xfrm>
            <a:off x="4619995" y="2205898"/>
            <a:ext cx="6810180" cy="218521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 lang="en-US"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891" marR="0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 lang="en-US"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782" marR="0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 lang="en-US"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674" marR="0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 lang="en-US"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566" marR="0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 lang="en-US"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4768" marR="0" lvl="1" indent="-304768" algn="just" defTabSz="91435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Pct val="115000"/>
              <a:buFontTx/>
              <a:buBlip>
                <a:blip r:embed="rId3"/>
              </a:buBlip>
              <a:tabLst>
                <a:tab pos="180966" algn="l"/>
              </a:tabLst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Calibri" charset="0"/>
                <a:cs typeface="Calibri" charset="0"/>
              </a:rPr>
              <a:t>Understand the complex product with accessories and develop literature and PMS data search strategy. </a:t>
            </a:r>
          </a:p>
          <a:p>
            <a:pPr marL="304768" marR="0" lvl="1" indent="-304768" algn="just" defTabSz="91435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Pct val="115000"/>
              <a:buFontTx/>
              <a:buBlip>
                <a:blip r:embed="rId3"/>
              </a:buBlip>
              <a:tabLst>
                <a:tab pos="180966" algn="l"/>
              </a:tabLst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Calibri" charset="0"/>
                <a:cs typeface="Calibri" charset="0"/>
              </a:rPr>
              <a:t>Perform the search and appraise literature data for accessories. </a:t>
            </a:r>
          </a:p>
          <a:p>
            <a:pPr marL="304768" lvl="1" indent="-304768" algn="just" defTabSz="914354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Pct val="115000"/>
              <a:buBlip>
                <a:blip r:embed="rId3"/>
              </a:buBlip>
              <a:tabLst>
                <a:tab pos="180966" algn="l"/>
              </a:tabLst>
              <a:defRPr/>
            </a:pPr>
            <a:r>
              <a:rPr lang="en-IN" sz="1400" dirty="0">
                <a:solidFill>
                  <a:schemeClr val="tx1"/>
                </a:solidFill>
                <a:ea typeface="Calibri" charset="0"/>
                <a:cs typeface="Calibri" charset="0"/>
              </a:rPr>
              <a:t>Open PMS Database search in MAUDE, BfArM, </a:t>
            </a:r>
            <a:r>
              <a:rPr lang="en-IN" sz="1400" dirty="0" err="1">
                <a:solidFill>
                  <a:schemeClr val="tx1"/>
                </a:solidFill>
                <a:ea typeface="Calibri" charset="0"/>
                <a:cs typeface="Calibri" charset="0"/>
              </a:rPr>
              <a:t>TGA</a:t>
            </a:r>
            <a:r>
              <a:rPr lang="en-IN" sz="1400" dirty="0">
                <a:solidFill>
                  <a:schemeClr val="tx1"/>
                </a:solidFill>
                <a:ea typeface="Calibri" charset="0"/>
                <a:cs typeface="Calibri" charset="0"/>
              </a:rPr>
              <a:t>, MHRA.</a:t>
            </a:r>
          </a:p>
          <a:p>
            <a:pPr marL="304768" lvl="1" indent="-304768" algn="just" defTabSz="914354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Pct val="115000"/>
              <a:buBlip>
                <a:blip r:embed="rId3"/>
              </a:buBlip>
              <a:tabLst>
                <a:tab pos="180966" algn="l"/>
              </a:tabLst>
              <a:defRPr/>
            </a:pPr>
            <a:r>
              <a:rPr lang="en-IN" sz="1400" dirty="0">
                <a:solidFill>
                  <a:schemeClr val="tx1"/>
                </a:solidFill>
                <a:ea typeface="Calibri" charset="0"/>
                <a:cs typeface="Calibri" charset="0"/>
              </a:rPr>
              <a:t>Trend Analysis for PMS data.</a:t>
            </a:r>
          </a:p>
          <a:p>
            <a:pPr marL="304768" lvl="1" indent="-304768" algn="just" defTabSz="914354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Pct val="115000"/>
              <a:buBlip>
                <a:blip r:embed="rId3"/>
              </a:buBlip>
              <a:tabLst>
                <a:tab pos="180966" algn="l"/>
              </a:tabLst>
              <a:defRPr/>
            </a:pPr>
            <a:r>
              <a:rPr lang="en-IN" sz="1400" dirty="0">
                <a:solidFill>
                  <a:schemeClr val="tx1"/>
                </a:solidFill>
                <a:ea typeface="Calibri" charset="0"/>
                <a:cs typeface="Calibri" charset="0"/>
              </a:rPr>
              <a:t>Develop strategy to add the</a:t>
            </a:r>
            <a:r>
              <a:rPr lang="en-US" sz="1400" dirty="0">
                <a:solidFill>
                  <a:schemeClr val="tx1"/>
                </a:solidFill>
                <a:ea typeface="Calibri" charset="0"/>
                <a:cs typeface="Calibri" charset="0"/>
              </a:rPr>
              <a:t> new accessories information in the CER.</a:t>
            </a:r>
          </a:p>
          <a:p>
            <a:pPr marL="304768" lvl="1" indent="-304768" algn="just" defTabSz="914354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Pct val="115000"/>
              <a:buBlip>
                <a:blip r:embed="rId3"/>
              </a:buBlip>
              <a:tabLst>
                <a:tab pos="180966" algn="l"/>
              </a:tabLst>
              <a:defRPr/>
            </a:pPr>
            <a:r>
              <a:rPr lang="en-IN" sz="1400" dirty="0">
                <a:solidFill>
                  <a:schemeClr val="tx1"/>
                </a:solidFill>
                <a:ea typeface="Calibri" charset="0"/>
                <a:cs typeface="Calibri" charset="0"/>
              </a:rPr>
              <a:t>Change and Update Clinical Evaluation Plan  &amp; report with respect to accessories.</a:t>
            </a:r>
          </a:p>
          <a:p>
            <a:pPr marL="304768" lvl="1" indent="-304768" algn="just" defTabSz="914354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Pct val="115000"/>
              <a:buBlip>
                <a:blip r:embed="rId3"/>
              </a:buBlip>
              <a:tabLst>
                <a:tab pos="180966" algn="l"/>
              </a:tabLst>
              <a:defRPr/>
            </a:pPr>
            <a:r>
              <a:rPr lang="en-IN" sz="1400" dirty="0">
                <a:solidFill>
                  <a:schemeClr val="tx1"/>
                </a:solidFill>
                <a:ea typeface="Calibri" charset="0"/>
                <a:cs typeface="Calibri" charset="0"/>
              </a:rPr>
              <a:t>Perform annual Update for CER.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Calibri" charset="0"/>
              <a:cs typeface="Calibri" charset="0"/>
            </a:endParaRPr>
          </a:p>
        </p:txBody>
      </p:sp>
      <p:sp>
        <p:nvSpPr>
          <p:cNvPr id="62" name="Text Placeholder 4"/>
          <p:cNvSpPr>
            <a:spLocks noGrp="1"/>
          </p:cNvSpPr>
          <p:nvPr/>
        </p:nvSpPr>
        <p:spPr>
          <a:xfrm>
            <a:off x="4667084" y="4923740"/>
            <a:ext cx="6932059" cy="50783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 lang="en-US"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891" marR="0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 lang="en-US"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782" marR="0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 lang="en-US"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674" marR="0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 lang="en-US"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566" marR="0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 lang="en-US"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4768" marR="0" lvl="1" indent="-304768" algn="l" defTabSz="91435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Pct val="115000"/>
              <a:buFontTx/>
              <a:buBlip>
                <a:blip r:embed="rId3"/>
              </a:buBlip>
              <a:tabLst>
                <a:tab pos="180966" algn="l"/>
              </a:tabLst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Calibri" charset="0"/>
                <a:cs typeface="Calibri" charset="0"/>
              </a:rPr>
              <a:t>Successfully added </a:t>
            </a:r>
            <a:r>
              <a:rPr lang="en-IN" sz="1400" dirty="0">
                <a:solidFill>
                  <a:schemeClr val="tx1"/>
                </a:solidFill>
                <a:latin typeface="Calibri"/>
                <a:ea typeface="Calibri" charset="0"/>
                <a:cs typeface="Calibri" charset="0"/>
              </a:rPr>
              <a:t>required information for newly added accessories in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Calibri" charset="0"/>
                <a:cs typeface="Calibri" charset="0"/>
              </a:rPr>
              <a:t>the  CEP &amp; CER</a:t>
            </a:r>
          </a:p>
          <a:p>
            <a:pPr marL="304768" marR="0" lvl="1" indent="-304768" algn="l" defTabSz="91435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533"/>
              </a:spcAft>
              <a:buClrTx/>
              <a:buSzPct val="115000"/>
              <a:buFontTx/>
              <a:buBlip>
                <a:blip r:embed="rId3"/>
              </a:buBlip>
              <a:tabLst>
                <a:tab pos="180966" algn="l"/>
              </a:tabLst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Calibri" charset="0"/>
                <a:cs typeface="Calibri" charset="0"/>
              </a:rPr>
              <a:t>Offshore driven project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67084" y="786593"/>
            <a:ext cx="17363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cap="all" dirty="0">
                <a:ea typeface="Calibri" charset="0"/>
                <a:cs typeface="Arial" panose="020B0604020202020204" pitchFamily="34" charset="0"/>
              </a:rPr>
              <a:t>The Challenge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67084" y="4476788"/>
            <a:ext cx="28927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cap="all" dirty="0">
                <a:ea typeface="Calibri" charset="0"/>
                <a:cs typeface="Arial" panose="020B0604020202020204" pitchFamily="34" charset="0"/>
              </a:rPr>
              <a:t>BUSINESS VALUE DELIVERED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667084" y="1763524"/>
            <a:ext cx="24012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cap="all" dirty="0">
                <a:ea typeface="Calibri" charset="0"/>
                <a:cs typeface="Arial" panose="020B0604020202020204" pitchFamily="34" charset="0"/>
              </a:rPr>
              <a:t>Solution Highlights</a:t>
            </a:r>
          </a:p>
        </p:txBody>
      </p:sp>
      <p:sp>
        <p:nvSpPr>
          <p:cNvPr id="96" name="Parallelogram 95"/>
          <p:cNvSpPr/>
          <p:nvPr/>
        </p:nvSpPr>
        <p:spPr>
          <a:xfrm>
            <a:off x="406400" y="5785161"/>
            <a:ext cx="3963965" cy="658227"/>
          </a:xfrm>
          <a:prstGeom prst="parallelogram">
            <a:avLst>
              <a:gd name="adj" fmla="val 47881"/>
            </a:avLst>
          </a:prstGeom>
          <a:solidFill>
            <a:srgbClr val="0556C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783"/>
            <a:r>
              <a:rPr lang="en-IN" sz="1600" b="1" kern="0" dirty="0">
                <a:solidFill>
                  <a:srgbClr val="FFFFFF"/>
                </a:solidFill>
                <a:cs typeface="Arial" panose="020B0604020202020204" pitchFamily="34" charset="0"/>
              </a:rPr>
              <a:t>Patient Monitoring Devices for various patient parameters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610135" y="5752111"/>
            <a:ext cx="7529848" cy="911730"/>
            <a:chOff x="4610135" y="5752111"/>
            <a:chExt cx="7529848" cy="911730"/>
          </a:xfrm>
        </p:grpSpPr>
        <p:grpSp>
          <p:nvGrpSpPr>
            <p:cNvPr id="66" name="Group 65"/>
            <p:cNvGrpSpPr/>
            <p:nvPr/>
          </p:nvGrpSpPr>
          <p:grpSpPr>
            <a:xfrm>
              <a:off x="4610135" y="6070156"/>
              <a:ext cx="7529848" cy="593685"/>
              <a:chOff x="4662152" y="5993637"/>
              <a:chExt cx="7461161" cy="610691"/>
            </a:xfrm>
          </p:grpSpPr>
          <p:sp>
            <p:nvSpPr>
              <p:cNvPr id="67" name="Freeform 12"/>
              <p:cNvSpPr/>
              <p:nvPr/>
            </p:nvSpPr>
            <p:spPr>
              <a:xfrm>
                <a:off x="4662152" y="5993637"/>
                <a:ext cx="7461161" cy="610691"/>
              </a:xfrm>
              <a:custGeom>
                <a:avLst/>
                <a:gdLst>
                  <a:gd name="connsiteX0" fmla="*/ 0 w 8732520"/>
                  <a:gd name="connsiteY0" fmla="*/ 0 h 316232"/>
                  <a:gd name="connsiteX1" fmla="*/ 564834 w 8732520"/>
                  <a:gd name="connsiteY1" fmla="*/ 0 h 316232"/>
                  <a:gd name="connsiteX2" fmla="*/ 8404860 w 8732520"/>
                  <a:gd name="connsiteY2" fmla="*/ 0 h 316232"/>
                  <a:gd name="connsiteX3" fmla="*/ 8732520 w 8732520"/>
                  <a:gd name="connsiteY3" fmla="*/ 0 h 316232"/>
                  <a:gd name="connsiteX4" fmla="*/ 8495346 w 8732520"/>
                  <a:gd name="connsiteY4" fmla="*/ 316232 h 316232"/>
                  <a:gd name="connsiteX5" fmla="*/ 8404860 w 8732520"/>
                  <a:gd name="connsiteY5" fmla="*/ 316232 h 316232"/>
                  <a:gd name="connsiteX6" fmla="*/ 327660 w 8732520"/>
                  <a:gd name="connsiteY6" fmla="*/ 316232 h 316232"/>
                  <a:gd name="connsiteX7" fmla="*/ 0 w 8732520"/>
                  <a:gd name="connsiteY7" fmla="*/ 316232 h 316232"/>
                  <a:gd name="connsiteX0" fmla="*/ 0 w 8732520"/>
                  <a:gd name="connsiteY0" fmla="*/ 0 h 316232"/>
                  <a:gd name="connsiteX1" fmla="*/ 564834 w 8732520"/>
                  <a:gd name="connsiteY1" fmla="*/ 0 h 316232"/>
                  <a:gd name="connsiteX2" fmla="*/ 8404860 w 8732520"/>
                  <a:gd name="connsiteY2" fmla="*/ 0 h 316232"/>
                  <a:gd name="connsiteX3" fmla="*/ 8732520 w 8732520"/>
                  <a:gd name="connsiteY3" fmla="*/ 0 h 316232"/>
                  <a:gd name="connsiteX4" fmla="*/ 8495346 w 8732520"/>
                  <a:gd name="connsiteY4" fmla="*/ 316232 h 316232"/>
                  <a:gd name="connsiteX5" fmla="*/ 8404860 w 8732520"/>
                  <a:gd name="connsiteY5" fmla="*/ 316232 h 316232"/>
                  <a:gd name="connsiteX6" fmla="*/ 327660 w 8732520"/>
                  <a:gd name="connsiteY6" fmla="*/ 316232 h 316232"/>
                  <a:gd name="connsiteX7" fmla="*/ 0 w 8732520"/>
                  <a:gd name="connsiteY7" fmla="*/ 316232 h 316232"/>
                  <a:gd name="connsiteX8" fmla="*/ 0 w 8732520"/>
                  <a:gd name="connsiteY8" fmla="*/ 0 h 316232"/>
                  <a:gd name="connsiteX0" fmla="*/ 0 w 8732520"/>
                  <a:gd name="connsiteY0" fmla="*/ 0 h 316232"/>
                  <a:gd name="connsiteX1" fmla="*/ 564834 w 8732520"/>
                  <a:gd name="connsiteY1" fmla="*/ 0 h 316232"/>
                  <a:gd name="connsiteX2" fmla="*/ 8404860 w 8732520"/>
                  <a:gd name="connsiteY2" fmla="*/ 0 h 316232"/>
                  <a:gd name="connsiteX3" fmla="*/ 8732520 w 8732520"/>
                  <a:gd name="connsiteY3" fmla="*/ 0 h 316232"/>
                  <a:gd name="connsiteX4" fmla="*/ 8495346 w 8732520"/>
                  <a:gd name="connsiteY4" fmla="*/ 316232 h 316232"/>
                  <a:gd name="connsiteX5" fmla="*/ 8404860 w 8732520"/>
                  <a:gd name="connsiteY5" fmla="*/ 316232 h 316232"/>
                  <a:gd name="connsiteX6" fmla="*/ 327660 w 8732520"/>
                  <a:gd name="connsiteY6" fmla="*/ 316232 h 316232"/>
                  <a:gd name="connsiteX7" fmla="*/ 49070 w 8732520"/>
                  <a:gd name="connsiteY7" fmla="*/ 316232 h 316232"/>
                  <a:gd name="connsiteX8" fmla="*/ 0 w 8732520"/>
                  <a:gd name="connsiteY8" fmla="*/ 0 h 316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732520" h="316232">
                    <a:moveTo>
                      <a:pt x="0" y="0"/>
                    </a:moveTo>
                    <a:lnTo>
                      <a:pt x="564834" y="0"/>
                    </a:lnTo>
                    <a:lnTo>
                      <a:pt x="8404860" y="0"/>
                    </a:lnTo>
                    <a:lnTo>
                      <a:pt x="8732520" y="0"/>
                    </a:lnTo>
                    <a:lnTo>
                      <a:pt x="8495346" y="316232"/>
                    </a:lnTo>
                    <a:lnTo>
                      <a:pt x="8404860" y="316232"/>
                    </a:lnTo>
                    <a:lnTo>
                      <a:pt x="327660" y="316232"/>
                    </a:lnTo>
                    <a:lnTo>
                      <a:pt x="49070" y="316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Text" lastClr="000000">
                  <a:alpha val="6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067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Rectangle 67"/>
              <p:cNvSpPr/>
              <p:nvPr/>
            </p:nvSpPr>
            <p:spPr>
              <a:xfrm>
                <a:off x="4921494" y="6091510"/>
                <a:ext cx="1825240" cy="3165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Calibri" charset="0"/>
                    <a:cs typeface="Calibri" charset="0"/>
                  </a:rPr>
                  <a:t>Remediation</a:t>
                </a:r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9939820" y="6010462"/>
                <a:ext cx="2118006" cy="5382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914377">
                  <a:defRPr/>
                </a:pPr>
                <a:r>
                  <a:rPr lang="en-IN" sz="1400" b="1" kern="0" dirty="0">
                    <a:solidFill>
                      <a:prstClr val="white"/>
                    </a:solidFill>
                    <a:ea typeface="Calibri" charset="0"/>
                    <a:cs typeface="Calibri" charset="0"/>
                  </a:rPr>
                  <a:t>Updated the document as per new product list </a:t>
                </a:r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8521028" y="6121270"/>
                <a:ext cx="1319233" cy="3165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400" b="1" kern="0" dirty="0">
                    <a:solidFill>
                      <a:prstClr val="white"/>
                    </a:solidFill>
                    <a:latin typeface="Calibri"/>
                    <a:ea typeface="Calibri" charset="0"/>
                    <a:cs typeface="Calibri" charset="0"/>
                  </a:rPr>
                  <a:t>90</a:t>
                </a:r>
                <a:r>
                  <a:rPr kumimoji="0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Calibri" charset="0"/>
                    <a:cs typeface="Calibri" charset="0"/>
                  </a:rPr>
                  <a:t>%</a:t>
                </a:r>
              </a:p>
            </p:txBody>
          </p:sp>
          <p:cxnSp>
            <p:nvCxnSpPr>
              <p:cNvPr id="71" name="Straight Connector 70"/>
              <p:cNvCxnSpPr/>
              <p:nvPr/>
            </p:nvCxnSpPr>
            <p:spPr>
              <a:xfrm>
                <a:off x="6574872" y="6162663"/>
                <a:ext cx="0" cy="325067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2" name="Straight Connector 71"/>
              <p:cNvCxnSpPr/>
              <p:nvPr/>
            </p:nvCxnSpPr>
            <p:spPr>
              <a:xfrm>
                <a:off x="8421469" y="6147655"/>
                <a:ext cx="0" cy="325067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3" name="Straight Connector 72"/>
              <p:cNvCxnSpPr/>
              <p:nvPr/>
            </p:nvCxnSpPr>
            <p:spPr>
              <a:xfrm>
                <a:off x="9915245" y="6147653"/>
                <a:ext cx="0" cy="325067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</p:cxnSp>
          <p:sp>
            <p:nvSpPr>
              <p:cNvPr id="74" name="Rectangle 73"/>
              <p:cNvSpPr/>
              <p:nvPr/>
            </p:nvSpPr>
            <p:spPr>
              <a:xfrm>
                <a:off x="6560596" y="6102892"/>
                <a:ext cx="1925057" cy="3165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Calibri" charset="0"/>
                    <a:cs typeface="Calibri" charset="0"/>
                  </a:rPr>
                  <a:t>Patient monitors</a:t>
                </a:r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5242887" y="5773865"/>
              <a:ext cx="12661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1217142">
                <a:defRPr/>
              </a:pPr>
              <a:r>
                <a:rPr lang="en-US" sz="1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Calibri" charset="0"/>
                  <a:cs typeface="Calibri" charset="0"/>
                </a:rPr>
                <a:t>ENGAGEMENT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941982" y="5762019"/>
              <a:ext cx="12053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1217142">
                <a:defRPr/>
              </a:pPr>
              <a:r>
                <a:rPr lang="en-US" sz="1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Calibri" charset="0"/>
                  <a:cs typeface="Calibri" charset="0"/>
                </a:rPr>
                <a:t>TECHNOLOGY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509242" y="5757695"/>
              <a:ext cx="9680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1217142">
                <a:defRPr/>
              </a:pPr>
              <a:r>
                <a:rPr lang="en-US" sz="1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Calibri" charset="0"/>
                  <a:cs typeface="Calibri" charset="0"/>
                </a:rPr>
                <a:t>OUTCOME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717762" y="5757695"/>
              <a:ext cx="11169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1217142">
                <a:defRPr/>
              </a:pPr>
              <a:r>
                <a:rPr lang="en-US" sz="1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Calibri" charset="0"/>
                  <a:cs typeface="Calibri" charset="0"/>
                </a:rPr>
                <a:t>OWNERSHIP</a:t>
              </a:r>
            </a:p>
          </p:txBody>
        </p:sp>
        <p:pic>
          <p:nvPicPr>
            <p:cNvPr id="41" name="Picture 40"/>
            <p:cNvPicPr>
              <a:picLocks noChangeAspect="1"/>
            </p:cNvPicPr>
            <p:nvPr/>
          </p:nvPicPr>
          <p:blipFill>
            <a:blip r:embed="rId4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44936" y="5785162"/>
              <a:ext cx="275981" cy="275981"/>
            </a:xfrm>
            <a:prstGeom prst="rect">
              <a:avLst/>
            </a:prstGeom>
          </p:spPr>
        </p:pic>
        <p:pic>
          <p:nvPicPr>
            <p:cNvPr id="42" name="Picture 41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33619" y="5752111"/>
              <a:ext cx="285284" cy="290788"/>
            </a:xfrm>
            <a:prstGeom prst="rect">
              <a:avLst/>
            </a:prstGeom>
          </p:spPr>
        </p:pic>
        <p:pic>
          <p:nvPicPr>
            <p:cNvPr id="43" name="Picture 42"/>
            <p:cNvPicPr>
              <a:picLocks noChangeAspect="1"/>
            </p:cNvPicPr>
            <p:nvPr/>
          </p:nvPicPr>
          <p:blipFill>
            <a:blip r:embed="rId6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4517" y="5757694"/>
              <a:ext cx="278400" cy="278400"/>
            </a:xfrm>
            <a:prstGeom prst="rect">
              <a:avLst/>
            </a:prstGeom>
          </p:spPr>
        </p:pic>
        <p:sp>
          <p:nvSpPr>
            <p:cNvPr id="44" name="Pie 24"/>
            <p:cNvSpPr/>
            <p:nvPr/>
          </p:nvSpPr>
          <p:spPr>
            <a:xfrm>
              <a:off x="8467920" y="5752112"/>
              <a:ext cx="292360" cy="262287"/>
            </a:xfrm>
            <a:prstGeom prst="pie">
              <a:avLst>
                <a:gd name="adj1" fmla="val 21540277"/>
                <a:gd name="adj2" fmla="val 162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7142">
                <a:defRPr/>
              </a:pPr>
              <a:endParaRPr lang="en-US" sz="2400" b="1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34" name="Title 1"/>
          <p:cNvSpPr txBox="1">
            <a:spLocks/>
          </p:cNvSpPr>
          <p:nvPr/>
        </p:nvSpPr>
        <p:spPr>
          <a:xfrm>
            <a:off x="247026" y="98750"/>
            <a:ext cx="10938530" cy="5685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Arial" panose="020B0604020202020204" pitchFamily="34" charset="0"/>
              </a:rPr>
              <a:t>CER SUPPORT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BCFE768-2E67-4E2D-890D-AA5F3D5A42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astelsSmooth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7251" y="1528078"/>
            <a:ext cx="3318042" cy="331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988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setVTI">
  <a:themeElements>
    <a:clrScheme name="AnalogousFromDarkSeedLeftStep">
      <a:dk1>
        <a:srgbClr val="000000"/>
      </a:dk1>
      <a:lt1>
        <a:srgbClr val="FFFFFF"/>
      </a:lt1>
      <a:dk2>
        <a:srgbClr val="413024"/>
      </a:dk2>
      <a:lt2>
        <a:srgbClr val="E8E2E7"/>
      </a:lt2>
      <a:accent1>
        <a:srgbClr val="21B82F"/>
      </a:accent1>
      <a:accent2>
        <a:srgbClr val="48B714"/>
      </a:accent2>
      <a:accent3>
        <a:srgbClr val="88AD1F"/>
      </a:accent3>
      <a:accent4>
        <a:srgbClr val="B9A014"/>
      </a:accent4>
      <a:accent5>
        <a:srgbClr val="E77A29"/>
      </a:accent5>
      <a:accent6>
        <a:srgbClr val="D51917"/>
      </a:accent6>
      <a:hlink>
        <a:srgbClr val="A47836"/>
      </a:hlink>
      <a:folHlink>
        <a:srgbClr val="7F7F7F"/>
      </a:folHlink>
    </a:clrScheme>
    <a:fontScheme name="Dante">
      <a:majorFont>
        <a:latin typeface="Dante"/>
        <a:ea typeface=""/>
        <a:cs typeface=""/>
      </a:majorFont>
      <a:minorFont>
        <a:latin typeface="Dan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setVTI" id="{17A3166B-76FF-4669-8F6D-D4251AE158D8}" vid="{4532814A-B5F8-4CFD-BC69-A007D492DA4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1681</TotalTime>
  <Words>924</Words>
  <Application>Microsoft Office PowerPoint</Application>
  <PresentationFormat>Widescreen</PresentationFormat>
  <Paragraphs>104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Calibri</vt:lpstr>
      <vt:lpstr>Century Gothic</vt:lpstr>
      <vt:lpstr>Dante</vt:lpstr>
      <vt:lpstr>Dante (Headings)2</vt:lpstr>
      <vt:lpstr>Garamond</vt:lpstr>
      <vt:lpstr>Helvetica Neue Medium</vt:lpstr>
      <vt:lpstr>Wingdings</vt:lpstr>
      <vt:lpstr>Wingdings 2</vt:lpstr>
      <vt:lpstr>OffsetVTI</vt:lpstr>
      <vt:lpstr>Case study</vt:lpstr>
      <vt:lpstr>       Intended use </vt:lpstr>
      <vt:lpstr>Safety Standards</vt:lpstr>
      <vt:lpstr>Regulatory and Safety Specifications</vt:lpstr>
      <vt:lpstr>Program Details</vt:lpstr>
      <vt:lpstr>About CareEvent</vt:lpstr>
      <vt:lpstr>About CareEvent</vt:lpstr>
      <vt:lpstr>Project Challenges </vt:lpstr>
      <vt:lpstr>Customer benefits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</dc:title>
  <dc:creator>LTTS comments</dc:creator>
  <cp:lastModifiedBy>Madhura Ramojwar</cp:lastModifiedBy>
  <cp:revision>15</cp:revision>
  <dcterms:created xsi:type="dcterms:W3CDTF">2020-08-07T06:03:40Z</dcterms:created>
  <dcterms:modified xsi:type="dcterms:W3CDTF">2021-04-07T10:55:13Z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5591f2-6b23-403d-aa5f-b6d577f5e572_Enabled">
    <vt:lpwstr>true</vt:lpwstr>
  </property>
  <property fmtid="{D5CDD505-2E9C-101B-9397-08002B2CF9AE}" pid="3" name="MSIP_Label_4b5591f2-6b23-403d-aa5f-b6d577f5e572_SetDate">
    <vt:lpwstr>2021-04-06T07:40:52Z</vt:lpwstr>
  </property>
  <property fmtid="{D5CDD505-2E9C-101B-9397-08002B2CF9AE}" pid="4" name="MSIP_Label_4b5591f2-6b23-403d-aa5f-b6d577f5e572_Method">
    <vt:lpwstr>Standard</vt:lpwstr>
  </property>
  <property fmtid="{D5CDD505-2E9C-101B-9397-08002B2CF9AE}" pid="5" name="MSIP_Label_4b5591f2-6b23-403d-aa5f-b6d577f5e572_Name">
    <vt:lpwstr>4b5591f2-6b23-403d-aa5f-b6d577f5e572</vt:lpwstr>
  </property>
  <property fmtid="{D5CDD505-2E9C-101B-9397-08002B2CF9AE}" pid="6" name="MSIP_Label_4b5591f2-6b23-403d-aa5f-b6d577f5e572_SiteId">
    <vt:lpwstr>311b3378-8e8a-4b5e-a33f-e80a3d8ba60a</vt:lpwstr>
  </property>
  <property fmtid="{D5CDD505-2E9C-101B-9397-08002B2CF9AE}" pid="7" name="MSIP_Label_4b5591f2-6b23-403d-aa5f-b6d577f5e572_ActionId">
    <vt:lpwstr>89cfdcc7-fd74-45f2-9d84-00000ab86531</vt:lpwstr>
  </property>
  <property fmtid="{D5CDD505-2E9C-101B-9397-08002B2CF9AE}" pid="8" name="MSIP_Label_4b5591f2-6b23-403d-aa5f-b6d577f5e572_ContentBits">
    <vt:lpwstr>0</vt:lpwstr>
  </property>
</Properties>
</file>